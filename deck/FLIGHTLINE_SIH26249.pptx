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a249e415-afad-a803-38c8-89ddc65ddc68}">
          <p14:sldIdLst>
            <p14:sldId id="256"/>
          </p14:sldIdLst>
        </p14:section>
        <p14:section name="Problem and idea" id="{b0bdbec6-43d5-d0e7-3a24-989a1805be96}">
          <p14:sldIdLst>
            <p14:sldId id="257"/>
            <p14:sldId id="258"/>
          </p14:sldIdLst>
        </p14:section>
        <p14:section name="How it works" id="{182d69d5-71e1-7184-0f0d-2daa37d6a7b8}">
          <p14:sldIdLst>
            <p14:sldId id="259"/>
            <p14:sldId id="260"/>
            <p14:sldId id="261"/>
          </p14:sldIdLst>
        </p14:section>
        <p14:section name="Demo" id="{69e4deac-7ff5-f330-8f66-c46086321345}">
          <p14:sldIdLst>
            <p14:sldId id="262"/>
          </p14:sldIdLst>
        </p14:section>
        <p14:section name="Feasibility and impact" id="{0e3e05eb-9742-5c36-e04a-c0eeb1249455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APH by part (decision window in days)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Short-horizon</c:v>
                </c:pt>
              </c:strCache>
            </c:strRef>
          </c:tx>
          <c:spPr>
            <a:solidFill>
              <a:srgbClr val="A6AFB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Air data (8 d)</c:v>
                  </c:pt>
                  <c:pt idx="1">
                    <c:v>Generator (15 d)</c:v>
                  </c:pt>
                  <c:pt idx="2">
                    <c:v>Hyd. pump (22 d)</c:v>
                  </c:pt>
                  <c:pt idx="3">
                    <c:v>MLG actuator (32 d)</c:v>
                  </c:pt>
                  <c:pt idx="4">
                    <c:v>Fuel control (46 d)</c:v>
                  </c:pt>
                  <c:pt idx="5">
                    <c:v>Radar TX (61 d)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50</c:v>
                </c:pt>
                <c:pt idx="2">
                  <c:v>67</c:v>
                </c:pt>
                <c:pt idx="3">
                  <c:v>28</c:v>
                </c:pt>
                <c:pt idx="4">
                  <c:v>11</c:v>
                </c:pt>
                <c:pt idx="5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FLIGHTLINE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Air data (8 d)</c:v>
                  </c:pt>
                  <c:pt idx="1">
                    <c:v>Generator (15 d)</c:v>
                  </c:pt>
                  <c:pt idx="2">
                    <c:v>Hyd. pump (22 d)</c:v>
                  </c:pt>
                  <c:pt idx="3">
                    <c:v>MLG actuator (32 d)</c:v>
                  </c:pt>
                  <c:pt idx="4">
                    <c:v>Fuel control (46 d)</c:v>
                  </c:pt>
                  <c:pt idx="5">
                    <c:v>Radar TX (61 d)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94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4444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+mn-lt"/>
              </a:rPr>
              <a:t>Warning lead ÷ window vs labelled failures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Warning lead ÷ decision window</c:v>
                </c:pt>
              </c:strCache>
            </c:strRef>
          </c:tx>
          <c:spPr>
            <a:solidFill>
              <a:srgbClr val="0070C0"/>
            </a:solidFill>
            <a:ln w="31750" cap="flat">
              <a:solidFill>
                <a:srgbClr val="0070C0"/>
              </a:solidFill>
              <a:prstDash val="solid"/>
              <a:round/>
            </a:ln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4444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70C0"/>
              </a:solidFill>
              <a:ln w="9525" cap="flat">
                <a:solidFill>
                  <a:srgbClr val="0070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12</c:v>
                  </c:pt>
                  <c:pt idx="1">
                    <c:v>24</c:v>
                  </c:pt>
                  <c:pt idx="2">
                    <c:v>48</c:v>
                  </c:pt>
                  <c:pt idx="3">
                    <c:v>96</c:v>
                  </c:pt>
                  <c:pt idx="4">
                    <c:v>144</c:v>
                  </c:pt>
                  <c:pt idx="5">
                    <c:v>216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3.17</c:v>
                </c:pt>
                <c:pt idx="1">
                  <c:v>2.46</c:v>
                </c:pt>
                <c:pt idx="2">
                  <c:v>2.44</c:v>
                </c:pt>
                <c:pt idx="3">
                  <c:v>1.92</c:v>
                </c:pt>
                <c:pt idx="4">
                  <c:v>1.89</c:v>
                </c:pt>
                <c:pt idx="5">
                  <c:v>1.81</c:v>
                </c:pt>
              </c:numCache>
            </c:numRef>
          </c:val>
          <c:smooth val="0"/>
        </c:ser>
        <c:dLbls>
          <c:numFmt formatCode="0.0&quot;×&quot;" sourceLinked="0"/>
          <c:txPr>
            <a:bodyPr/>
            <a:lstStyle/>
            <a:p>
              <a:pPr>
                <a:defRPr b="0" i="0" strike="noStrike" sz="900" u="none">
                  <a:solidFill>
                    <a:srgbClr val="444444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  <c:min val="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plain. One sentence: every other team predicts when a part fails; FLIGHTLINE predicts how many sortie-days the fleet is about to lose, and names the single action that saves the most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statement does not say the models are inaccurate. It says the data never meets. So we do not compete on accuracy: we join the four silos and optimise the number the Air Force already runs on — operational availability.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with RMSE 0.9 sounds better than 48.6. But that 0.9 is measured against RUL capped at 15 cycles — the convention most C-MAPSS papers use — and a capped model cannot warn earlier than the cap. APH is the share of failures warned early enough to get the spare, the bay and the crew in place. Ours: 99%. Then in a 90-day backtest on true failures, both models drive pre-emptive spares orders: 12 sorties lost vs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twin that matters is of the maintenance system, not the engine. Air-gapped by construction: no cloud call, no LLM, no GPU, one SQLite file. Units: the model predicts RUL in cycles (sorties); it becomes days only when divided by planned utilisation. The headline delta is always simulator vs simulator — never the optimiser's own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both necessary and corrosive, so we do not ban it — we price it. The officer on this panel has signed cannibalisation authorisations; nobody has shown them this number. Robbing a flying aircraft is always net negative: it only moves the hole. Robbing an aircraft that is down anyway can pay handsomely.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slowly. Conformal prediction gives a distribution-free coverage guarantee: no assumption about the error distribution. A single global correction gave 92% overall but about 80% near failure — exactly the wrong place to be overconfident — so we calibrate per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play a recording. Hand them the controls. Change anything you like — both plans are re-simulated and CP-SAT re-solves in about a second, with the reason printed next to every recommendation. Press Reset before you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weakness before the panel finds it. Our claim is not that this model transfers to a Su-30. Our claim is that the decision layer is platform-agnostic: the twin, the simulator, the attribution, the optimiser, the cannibalisation price and the abstention gate are unchanged when the degradation model is swapped.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current practice the fleet loses 11.0 points of availability below its inspection-only ceiling of 93.7%: 8.0 to spares lead time, 1.3 to depot contention, 1.6 to unscheduled removals, 0.1 to cannibalisation cascades. Nobody else is doing lost-availability attribution.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Aircraft-days recovered from the same aircraft, parts and bays — by joining the data, not by buying anything. Air-gapped by construction: nothing leaves the base network. The numbers are from the synthetic scenario; the first step with real data is one LRU family at one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ai/ae59e700-15de-4417-810f-41855f20d109/scratchpad/deckbuild/shots/sih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155448"/>
            <a:ext cx="658368" cy="7498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80192" y="18288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4D5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2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4D5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2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4D5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50" dirty="0"/>
          </a:p>
        </p:txBody>
      </p:sp>
      <p:sp>
        <p:nvSpPr>
          <p:cNvPr id="4" name="Shape 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" name="Text 2"/>
          <p:cNvSpPr/>
          <p:nvPr/>
        </p:nvSpPr>
        <p:spPr>
          <a:xfrm>
            <a:off x="3200400" y="6419088"/>
            <a:ext cx="5788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3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2103120" y="237744"/>
            <a:ext cx="7818120" cy="7863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 title 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ai/ae59e700-15de-4417-810f-41855f20d109/scratchpad/deckbuild/shots/sih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155448"/>
            <a:ext cx="658368" cy="7498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80192" y="18288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4D5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2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4D5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2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4D5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457200" y="256032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4200" dirty="0"/>
          </a:p>
        </p:txBody>
      </p:sp>
      <p:sp>
        <p:nvSpPr>
          <p:cNvPr id="3" name="title-2"/>
          <p:cNvSpPr txBox="1"/>
          <p:nvPr/>
        </p:nvSpPr>
        <p:spPr>
          <a:xfrm>
            <a:off x="45720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3400" dirty="0"/>
          </a:p>
        </p:txBody>
      </p:sp>
      <p:sp>
        <p:nvSpPr>
          <p:cNvPr id="4" name="hex-3"/>
          <p:cNvSpPr/>
          <p:nvPr/>
        </p:nvSpPr>
        <p:spPr>
          <a:xfrm rot="5400000">
            <a:off x="7086600" y="1417320"/>
            <a:ext cx="4206240" cy="4846320"/>
          </a:xfrm>
          <a:prstGeom prst="hexagon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5" name="hex-4"/>
          <p:cNvSpPr/>
          <p:nvPr/>
        </p:nvSpPr>
        <p:spPr>
          <a:xfrm rot="5400000">
            <a:off x="6400800" y="960120"/>
            <a:ext cx="1737360" cy="1920240"/>
          </a:xfrm>
          <a:prstGeom prst="hexagon">
            <a:avLst/>
          </a:prstGeom>
          <a:ln w="76200">
            <a:solidFill>
              <a:srgbClr val="E1E1E1"/>
            </a:solidFill>
            <a:prstDash val="solid"/>
          </a:ln>
        </p:spPr>
      </p:sp>
      <p:sp>
        <p:nvSpPr>
          <p:cNvPr id="6" name="hex-5"/>
          <p:cNvSpPr/>
          <p:nvPr/>
        </p:nvSpPr>
        <p:spPr>
          <a:xfrm rot="5400000">
            <a:off x="5989320" y="4069080"/>
            <a:ext cx="914400" cy="1051560"/>
          </a:xfrm>
          <a:prstGeom prst="hexagon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pic>
        <p:nvPicPr>
          <p:cNvPr id="7" name="emblem-6" descr="Smart India Hackathon em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103120"/>
            <a:ext cx="2377440" cy="2717627"/>
          </a:xfrm>
          <a:prstGeom prst="rect">
            <a:avLst/>
          </a:prstGeom>
        </p:spPr>
      </p:pic>
      <p:sp>
        <p:nvSpPr>
          <p:cNvPr id="8" name="details-7"/>
          <p:cNvSpPr txBox="1"/>
          <p:nvPr/>
        </p:nvSpPr>
        <p:spPr>
          <a:xfrm>
            <a:off x="502920" y="210312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SIH26249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Power — Predictive Maintenance &amp; Fleet Availability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Defence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FLIGHTLINE — Fleet Availability Twin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Byte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-8"/>
          <p:cNvSpPr/>
          <p:nvPr/>
        </p:nvSpPr>
        <p:spPr>
          <a:xfrm>
            <a:off x="274320" y="201168"/>
            <a:ext cx="1600200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Byte</a:t>
            </a:r>
            <a:endParaRPr lang="en-US" sz="17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2103120" y="237744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TITLE</a:t>
            </a:r>
            <a:endParaRPr lang="en-US" sz="3400" dirty="0"/>
          </a:p>
        </p:txBody>
      </p:sp>
      <p:sp>
        <p:nvSpPr>
          <p:cNvPr id="4" name="text-9"/>
          <p:cNvSpPr txBox="1"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FLIGHTLINE — Fleet Availability Twin</a:t>
            </a:r>
            <a:endParaRPr lang="en-US" sz="2000" dirty="0"/>
          </a:p>
        </p:txBody>
      </p:sp>
      <p:sp>
        <p:nvSpPr>
          <p:cNvPr id="5" name="text-10"/>
          <p:cNvSpPr txBox="1"/>
          <p:nvPr/>
        </p:nvSpPr>
        <p:spPr>
          <a:xfrm>
            <a:off x="411480" y="144475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layer that joins the four maintenance silos, predicts how many sortie-days the fleet is about to lose, and names the action that saves the most of them — scored in aircraft-days, not RMSE.</a:t>
            </a:r>
            <a:endParaRPr lang="en-US" sz="1400" dirty="0"/>
          </a:p>
        </p:txBody>
      </p:sp>
      <p:sp>
        <p:nvSpPr>
          <p:cNvPr id="6" name="frame-11"/>
          <p:cNvSpPr/>
          <p:nvPr/>
        </p:nvSpPr>
        <p:spPr>
          <a:xfrm>
            <a:off x="411480" y="2103120"/>
            <a:ext cx="3657600" cy="411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7" name="frame-12"/>
          <p:cNvSpPr/>
          <p:nvPr/>
        </p:nvSpPr>
        <p:spPr>
          <a:xfrm>
            <a:off x="4279392" y="2103120"/>
            <a:ext cx="3657600" cy="411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8" name="frame-13"/>
          <p:cNvSpPr/>
          <p:nvPr/>
        </p:nvSpPr>
        <p:spPr>
          <a:xfrm>
            <a:off x="8147304" y="2103120"/>
            <a:ext cx="3657600" cy="411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9" name="text-14"/>
          <p:cNvSpPr txBox="1"/>
          <p:nvPr/>
        </p:nvSpPr>
        <p:spPr>
          <a:xfrm>
            <a:off x="59436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:</a:t>
            </a:r>
            <a:endParaRPr lang="en-US" sz="2100" dirty="0"/>
          </a:p>
        </p:txBody>
      </p:sp>
      <p:sp>
        <p:nvSpPr>
          <p:cNvPr id="10" name="text-15"/>
          <p:cNvSpPr txBox="1"/>
          <p:nvPr/>
        </p:nvSpPr>
        <p:spPr>
          <a:xfrm>
            <a:off x="594360" y="2761488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statement names fragmentation, not accuracy: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“fragmented and largely reactive … not adequately integrated”.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monitoring, technical records, spares and MRO agencies never meet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fault predicted on Tuesday collides with a six-week spares lead time — the aircraft sits on the ground anyway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 models report RMSE; nobody reports aircraft-days</a:t>
            </a:r>
            <a:endParaRPr lang="en-US" sz="1400" dirty="0"/>
          </a:p>
        </p:txBody>
      </p:sp>
      <p:sp>
        <p:nvSpPr>
          <p:cNvPr id="11" name="text-16"/>
          <p:cNvSpPr txBox="1"/>
          <p:nvPr/>
        </p:nvSpPr>
        <p:spPr>
          <a:xfrm>
            <a:off x="4462272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FLIGHTLINE :</a:t>
            </a:r>
            <a:endParaRPr lang="en-US" sz="2100" dirty="0"/>
          </a:p>
        </p:txBody>
      </p:sp>
      <p:sp>
        <p:nvSpPr>
          <p:cNvPr id="12" name="text-17"/>
          <p:cNvSpPr txBox="1"/>
          <p:nvPr/>
        </p:nvSpPr>
        <p:spPr>
          <a:xfrm>
            <a:off x="4462272" y="2761488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GRAPH OF THE FOUR SILOS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→ LRU → part → stock → depot bay → sorties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PROGNOSIS WITH HONEST INTERVALS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life as a 90% conformal interval; abstains when unsure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SIMULATOR + OPTIMISER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days, day by day; CP-SAT re-sequences depot inductions and expedites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CANNIBALISATION, PRICED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swap returns a net in aircraft-days over 30 days</a:t>
            </a:r>
            <a:endParaRPr lang="en-US" sz="1350" dirty="0"/>
          </a:p>
        </p:txBody>
      </p:sp>
      <p:sp>
        <p:nvSpPr>
          <p:cNvPr id="13" name="text-18"/>
          <p:cNvSpPr txBox="1"/>
          <p:nvPr/>
        </p:nvSpPr>
        <p:spPr>
          <a:xfrm>
            <a:off x="8330184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OFFICER GETS :</a:t>
            </a:r>
            <a:endParaRPr lang="en-US" sz="2100" dirty="0"/>
          </a:p>
        </p:txBody>
      </p:sp>
      <p:sp>
        <p:nvSpPr>
          <p:cNvPr id="14" name="text-19"/>
          <p:cNvSpPr txBox="1"/>
          <p:nvPr/>
        </p:nvSpPr>
        <p:spPr>
          <a:xfrm>
            <a:off x="8330184" y="3127248"/>
            <a:ext cx="3291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actions, each scored in aircraft-days gained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this number?” — the trace of which silo said what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attribution: why Ao is what it is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what-if: ground aircraft, delay spares, surge sorties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Printable draft maintenance order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ranks and prices. It never authorises — the signature stays with the officer.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-20"/>
          <p:cNvSpPr/>
          <p:nvPr/>
        </p:nvSpPr>
        <p:spPr>
          <a:xfrm>
            <a:off x="274320" y="201168"/>
            <a:ext cx="1600200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Byte</a:t>
            </a:r>
            <a:endParaRPr lang="en-US" sz="17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2103120" y="237744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REFRAME: APH</a:t>
            </a:r>
            <a:endParaRPr lang="en-US" sz="3400" dirty="0"/>
          </a:p>
        </p:txBody>
      </p:sp>
      <p:sp>
        <p:nvSpPr>
          <p:cNvPr id="4" name="card-21"/>
          <p:cNvSpPr/>
          <p:nvPr/>
        </p:nvSpPr>
        <p:spPr>
          <a:xfrm>
            <a:off x="411480" y="1143000"/>
            <a:ext cx="11365992" cy="914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-22"/>
          <p:cNvSpPr txBox="1"/>
          <p:nvPr/>
        </p:nvSpPr>
        <p:spPr>
          <a:xfrm>
            <a:off x="54864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APH  =  P( t</a:t>
            </a:r>
            <a:pPr indent="0" marL="0">
              <a:buNone/>
            </a:pPr>
            <a:r>
              <a:rPr lang="en-US" sz="2000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≤  t</a:t>
            </a:r>
            <a:pPr indent="0" marL="0">
              <a:buNone/>
            </a:pPr>
            <a:r>
              <a:rPr lang="en-US" sz="2000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( spares lead + depot queue + bay time ) )</a:t>
            </a:r>
            <a:endParaRPr lang="en-US" sz="2000" dirty="0"/>
          </a:p>
        </p:txBody>
      </p:sp>
      <p:sp>
        <p:nvSpPr>
          <p:cNvPr id="6" name="text-23"/>
          <p:cNvSpPr txBox="1"/>
          <p:nvPr/>
        </p:nvSpPr>
        <p:spPr>
          <a:xfrm>
            <a:off x="8458200" y="1188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prediction is worth nothing if it arrives after the last day you could have acted on it.</a:t>
            </a:r>
            <a:endParaRPr lang="en-US" sz="1300" dirty="0"/>
          </a:p>
        </p:txBody>
      </p:sp>
      <p:sp>
        <p:nvSpPr>
          <p:cNvPr id="7" name="text-24"/>
          <p:cNvSpPr txBox="1"/>
          <p:nvPr/>
        </p:nvSpPr>
        <p:spPr>
          <a:xfrm>
            <a:off x="411480" y="22402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real models · same training data · same 108 held-out run-to-failure units</a:t>
            </a:r>
            <a:endParaRPr lang="en-US" sz="1300" dirty="0"/>
          </a:p>
        </p:txBody>
      </p:sp>
      <p:graphicFrame>
        <p:nvGraphicFramePr>
          <p:cNvPr id="4" name="aph-table-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78608"/>
          <a:ext cx="6675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Short-horizon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(RUL capped at 15, literature convention)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FLIGHTLINE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(uncapped + conformal)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on the model's own 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 cycles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48.6 cycles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in the last 15 cycles before failure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 cycles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 cycles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APH — failures warned in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Aircraft-days lost to late warnings / 100 failures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Fleet backtest: sorties lost in 90 days (no prognosis: 18)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card-26"/>
          <p:cNvSpPr/>
          <p:nvPr/>
        </p:nvSpPr>
        <p:spPr>
          <a:xfrm>
            <a:off x="411480" y="5257800"/>
            <a:ext cx="6675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0" name="text-27"/>
          <p:cNvSpPr txBox="1"/>
          <p:nvPr/>
        </p:nvSpPr>
        <p:spPr>
          <a:xfrm>
            <a:off x="566928" y="5321808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accurate near failure — and still loses.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capped model cannot see past 15 cycles (≈22 days); most spares take longer than that to arrive. FLIGHTLINE warns at a median 1.8× the decision window.</a:t>
            </a:r>
            <a:endParaRPr lang="en-US" sz="1300" dirty="0"/>
          </a:p>
        </p:txBody>
      </p:sp>
      <p:graphicFrame>
        <p:nvGraphicFramePr>
          <p:cNvPr id="11" name="aph-chart-28" descr=""/>
          <p:cNvGraphicFramePr/>
          <p:nvPr/>
        </p:nvGraphicFramePr>
        <p:xfrm>
          <a:off x="7315200" y="2240280"/>
          <a:ext cx="4462272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-29"/>
          <p:cNvSpPr/>
          <p:nvPr/>
        </p:nvSpPr>
        <p:spPr>
          <a:xfrm>
            <a:off x="274320" y="201168"/>
            <a:ext cx="1600200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Byte</a:t>
            </a:r>
            <a:endParaRPr lang="en-US" sz="17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2103120" y="237744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4" name="card-30"/>
          <p:cNvSpPr/>
          <p:nvPr/>
        </p:nvSpPr>
        <p:spPr>
          <a:xfrm>
            <a:off x="411480" y="1115568"/>
            <a:ext cx="269748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-31"/>
          <p:cNvSpPr txBox="1"/>
          <p:nvPr/>
        </p:nvSpPr>
        <p:spPr>
          <a:xfrm>
            <a:off x="521208" y="11612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</a:t>
            </a:r>
            <a:endParaRPr lang="en-US" sz="1200" dirty="0"/>
          </a:p>
        </p:txBody>
      </p:sp>
      <p:sp>
        <p:nvSpPr>
          <p:cNvPr id="6" name="text-32"/>
          <p:cNvSpPr txBox="1"/>
          <p:nvPr/>
        </p:nvSpPr>
        <p:spPr>
          <a:xfrm>
            <a:off x="521208" y="1426464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installed LRUs · multivariate sensor histories, 6 operating regimes (N-CMAPSS shape)</a:t>
            </a:r>
            <a:endParaRPr lang="en-US" sz="1100" dirty="0"/>
          </a:p>
        </p:txBody>
      </p:sp>
      <p:sp>
        <p:nvSpPr>
          <p:cNvPr id="7" name="arrow-33"/>
          <p:cNvSpPr/>
          <p:nvPr/>
        </p:nvSpPr>
        <p:spPr>
          <a:xfrm>
            <a:off x="1604772" y="2048256"/>
            <a:ext cx="310896" cy="237744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card-34"/>
          <p:cNvSpPr/>
          <p:nvPr/>
        </p:nvSpPr>
        <p:spPr>
          <a:xfrm>
            <a:off x="3300984" y="1115568"/>
            <a:ext cx="269748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-35"/>
          <p:cNvSpPr txBox="1"/>
          <p:nvPr/>
        </p:nvSpPr>
        <p:spPr>
          <a:xfrm>
            <a:off x="3410712" y="11612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RECORDS</a:t>
            </a:r>
            <a:endParaRPr lang="en-US" sz="1200" dirty="0"/>
          </a:p>
        </p:txBody>
      </p:sp>
      <p:sp>
        <p:nvSpPr>
          <p:cNvPr id="10" name="text-36"/>
          <p:cNvSpPr txBox="1"/>
          <p:nvPr/>
        </p:nvSpPr>
        <p:spPr>
          <a:xfrm>
            <a:off x="3410712" y="1426464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phase inspections due · durations · cannibalisation history</a:t>
            </a:r>
            <a:endParaRPr lang="en-US" sz="1100" dirty="0"/>
          </a:p>
        </p:txBody>
      </p:sp>
      <p:sp>
        <p:nvSpPr>
          <p:cNvPr id="11" name="arrow-37"/>
          <p:cNvSpPr/>
          <p:nvPr/>
        </p:nvSpPr>
        <p:spPr>
          <a:xfrm>
            <a:off x="4494276" y="2048256"/>
            <a:ext cx="310896" cy="237744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card-38"/>
          <p:cNvSpPr/>
          <p:nvPr/>
        </p:nvSpPr>
        <p:spPr>
          <a:xfrm>
            <a:off x="6190488" y="1115568"/>
            <a:ext cx="269748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-39"/>
          <p:cNvSpPr txBox="1"/>
          <p:nvPr/>
        </p:nvSpPr>
        <p:spPr>
          <a:xfrm>
            <a:off x="6300216" y="11612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SPARES</a:t>
            </a:r>
            <a:endParaRPr lang="en-US" sz="1200" dirty="0"/>
          </a:p>
        </p:txBody>
      </p:sp>
      <p:sp>
        <p:nvSpPr>
          <p:cNvPr id="14" name="text-40"/>
          <p:cNvSpPr txBox="1"/>
          <p:nvPr/>
        </p:nvSpPr>
        <p:spPr>
          <a:xfrm>
            <a:off x="6300216" y="1426464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stock locations · lead times 7–60 days · orders in transit</a:t>
            </a:r>
            <a:endParaRPr lang="en-US" sz="1100" dirty="0"/>
          </a:p>
        </p:txBody>
      </p:sp>
      <p:sp>
        <p:nvSpPr>
          <p:cNvPr id="15" name="arrow-41"/>
          <p:cNvSpPr/>
          <p:nvPr/>
        </p:nvSpPr>
        <p:spPr>
          <a:xfrm>
            <a:off x="7383780" y="2048256"/>
            <a:ext cx="310896" cy="237744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card-42"/>
          <p:cNvSpPr/>
          <p:nvPr/>
        </p:nvSpPr>
        <p:spPr>
          <a:xfrm>
            <a:off x="9079992" y="1115568"/>
            <a:ext cx="269748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7" name="text-43"/>
          <p:cNvSpPr txBox="1"/>
          <p:nvPr/>
        </p:nvSpPr>
        <p:spPr>
          <a:xfrm>
            <a:off x="9189720" y="11612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AGENCIES</a:t>
            </a:r>
            <a:endParaRPr lang="en-US" sz="1200" dirty="0"/>
          </a:p>
        </p:txBody>
      </p:sp>
      <p:sp>
        <p:nvSpPr>
          <p:cNvPr id="18" name="text-44"/>
          <p:cNvSpPr txBox="1"/>
          <p:nvPr/>
        </p:nvSpPr>
        <p:spPr>
          <a:xfrm>
            <a:off x="9189720" y="1426464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depots · 3 bays · one induction crew per depot per day</a:t>
            </a:r>
            <a:endParaRPr lang="en-US" sz="1100" dirty="0"/>
          </a:p>
        </p:txBody>
      </p:sp>
      <p:sp>
        <p:nvSpPr>
          <p:cNvPr id="19" name="arrow-45"/>
          <p:cNvSpPr/>
          <p:nvPr/>
        </p:nvSpPr>
        <p:spPr>
          <a:xfrm>
            <a:off x="10273284" y="2048256"/>
            <a:ext cx="310896" cy="237744"/>
          </a:xfrm>
          <a:prstGeom prst="down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card-46"/>
          <p:cNvSpPr/>
          <p:nvPr/>
        </p:nvSpPr>
        <p:spPr>
          <a:xfrm>
            <a:off x="411480" y="2331720"/>
            <a:ext cx="11365992" cy="5669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-47"/>
          <p:cNvSpPr txBox="1"/>
          <p:nvPr/>
        </p:nvSpPr>
        <p:spPr>
          <a:xfrm>
            <a:off x="594360" y="23317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TWIN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NetworkX graph · 200 nodes · 392 edges   ·   tail → installed LRU → part number → stock location → depot bay → sortie plan</a:t>
            </a:r>
            <a:endParaRPr lang="en-US" sz="1300" dirty="0"/>
          </a:p>
        </p:txBody>
      </p:sp>
      <p:sp>
        <p:nvSpPr>
          <p:cNvPr id="22" name="frame-48"/>
          <p:cNvSpPr/>
          <p:nvPr/>
        </p:nvSpPr>
        <p:spPr>
          <a:xfrm>
            <a:off x="411480" y="3127248"/>
            <a:ext cx="2103120" cy="20116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23" name="text-49"/>
          <p:cNvSpPr txBox="1"/>
          <p:nvPr/>
        </p:nvSpPr>
        <p:spPr>
          <a:xfrm>
            <a:off x="521208" y="32186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PROGNOSIS</a:t>
            </a:r>
            <a:endParaRPr lang="en-US" sz="1250" dirty="0"/>
          </a:p>
        </p:txBody>
      </p:sp>
      <p:sp>
        <p:nvSpPr>
          <p:cNvPr id="24" name="text-50"/>
          <p:cNvSpPr txBox="1"/>
          <p:nvPr/>
        </p:nvSpPr>
        <p:spPr>
          <a:xfrm>
            <a:off x="521208" y="3557016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HistGradientBoosting on rolling mean / std / slope per sensor + age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Mondrian conformalised quantile regression → 90% RUL interval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Abstains when interval &gt; decision window</a:t>
            </a:r>
            <a:endParaRPr lang="en-US" sz="1050" dirty="0"/>
          </a:p>
        </p:txBody>
      </p:sp>
      <p:sp>
        <p:nvSpPr>
          <p:cNvPr id="25" name="arrow-51"/>
          <p:cNvSpPr/>
          <p:nvPr/>
        </p:nvSpPr>
        <p:spPr>
          <a:xfrm>
            <a:off x="2528316" y="3995928"/>
            <a:ext cx="155448" cy="274320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6" name="frame-52"/>
          <p:cNvSpPr/>
          <p:nvPr/>
        </p:nvSpPr>
        <p:spPr>
          <a:xfrm>
            <a:off x="2697480" y="3127248"/>
            <a:ext cx="2103120" cy="20116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27" name="text-53"/>
          <p:cNvSpPr txBox="1"/>
          <p:nvPr/>
        </p:nvSpPr>
        <p:spPr>
          <a:xfrm>
            <a:off x="2807208" y="32186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SIMULATOR</a:t>
            </a:r>
            <a:endParaRPr lang="en-US" sz="1250" dirty="0"/>
          </a:p>
        </p:txBody>
      </p:sp>
      <p:sp>
        <p:nvSpPr>
          <p:cNvPr id="28" name="text-54"/>
          <p:cNvSpPr txBox="1"/>
          <p:nvPr/>
        </p:nvSpPr>
        <p:spPr>
          <a:xfrm>
            <a:off x="2807208" y="3557016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days, day by day; wear ∝ sorties flown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Base-stock (S−1, S) spares, FIFO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down-day = one labelled “hold” → exact attribution</a:t>
            </a:r>
            <a:endParaRPr lang="en-US" sz="1050" dirty="0"/>
          </a:p>
        </p:txBody>
      </p:sp>
      <p:sp>
        <p:nvSpPr>
          <p:cNvPr id="29" name="arrow-55"/>
          <p:cNvSpPr/>
          <p:nvPr/>
        </p:nvSpPr>
        <p:spPr>
          <a:xfrm>
            <a:off x="4814316" y="3995928"/>
            <a:ext cx="155448" cy="274320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0" name="frame-56"/>
          <p:cNvSpPr/>
          <p:nvPr/>
        </p:nvSpPr>
        <p:spPr>
          <a:xfrm>
            <a:off x="4983480" y="3127248"/>
            <a:ext cx="2103120" cy="20116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31" name="text-57"/>
          <p:cNvSpPr txBox="1"/>
          <p:nvPr/>
        </p:nvSpPr>
        <p:spPr>
          <a:xfrm>
            <a:off x="5093208" y="32186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OPTIMISER</a:t>
            </a:r>
            <a:endParaRPr lang="en-US" sz="1250" dirty="0"/>
          </a:p>
        </p:txBody>
      </p:sp>
      <p:sp>
        <p:nvSpPr>
          <p:cNvPr id="32" name="text-58"/>
          <p:cNvSpPr txBox="1"/>
          <p:nvPr/>
        </p:nvSpPr>
        <p:spPr>
          <a:xfrm>
            <a:off x="5093208" y="3557016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OR-Tools CP-SAT: induction day + depot, expedites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sortie-days, then aircraft-days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passes + simulator check; deterministic budget</a:t>
            </a:r>
            <a:endParaRPr lang="en-US" sz="1050" dirty="0"/>
          </a:p>
        </p:txBody>
      </p:sp>
      <p:sp>
        <p:nvSpPr>
          <p:cNvPr id="33" name="arrow-59"/>
          <p:cNvSpPr/>
          <p:nvPr/>
        </p:nvSpPr>
        <p:spPr>
          <a:xfrm>
            <a:off x="7100316" y="3995928"/>
            <a:ext cx="155448" cy="274320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4" name="frame-60"/>
          <p:cNvSpPr/>
          <p:nvPr/>
        </p:nvSpPr>
        <p:spPr>
          <a:xfrm>
            <a:off x="7269480" y="3127248"/>
            <a:ext cx="2103120" cy="20116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35" name="text-61"/>
          <p:cNvSpPr txBox="1"/>
          <p:nvPr/>
        </p:nvSpPr>
        <p:spPr>
          <a:xfrm>
            <a:off x="7379208" y="32186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DECISION LAYER</a:t>
            </a:r>
            <a:endParaRPr lang="en-US" sz="1250" dirty="0"/>
          </a:p>
        </p:txBody>
      </p:sp>
      <p:sp>
        <p:nvSpPr>
          <p:cNvPr id="36" name="text-62"/>
          <p:cNvSpPr txBox="1"/>
          <p:nvPr/>
        </p:nvSpPr>
        <p:spPr>
          <a:xfrm>
            <a:off x="7379208" y="3557016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Cannibalisation priced over 30 days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Spare unlock ranking (monotone replay)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in aircraft-days + causal trace</a:t>
            </a:r>
            <a:endParaRPr lang="en-US" sz="1050" dirty="0"/>
          </a:p>
        </p:txBody>
      </p:sp>
      <p:sp>
        <p:nvSpPr>
          <p:cNvPr id="37" name="arrow-63"/>
          <p:cNvSpPr/>
          <p:nvPr/>
        </p:nvSpPr>
        <p:spPr>
          <a:xfrm>
            <a:off x="9386316" y="3995928"/>
            <a:ext cx="155448" cy="274320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8" name="frame-64"/>
          <p:cNvSpPr/>
          <p:nvPr/>
        </p:nvSpPr>
        <p:spPr>
          <a:xfrm>
            <a:off x="9555480" y="3127248"/>
            <a:ext cx="2103120" cy="20116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39" name="text-65"/>
          <p:cNvSpPr txBox="1"/>
          <p:nvPr/>
        </p:nvSpPr>
        <p:spPr>
          <a:xfrm>
            <a:off x="9665208" y="32186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DELIVERY</a:t>
            </a:r>
            <a:endParaRPr lang="en-US" sz="1250" dirty="0"/>
          </a:p>
        </p:txBody>
      </p:sp>
      <p:sp>
        <p:nvSpPr>
          <p:cNvPr id="40" name="text-66"/>
          <p:cNvSpPr txBox="1"/>
          <p:nvPr/>
        </p:nvSpPr>
        <p:spPr>
          <a:xfrm>
            <a:off x="9665208" y="3557016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offline dashboard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what-if, re-solves in ≈1 s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Printable draft maintenance order</a:t>
            </a:r>
            <a:endParaRPr lang="en-US" sz="1050" dirty="0"/>
          </a:p>
        </p:txBody>
      </p:sp>
      <p:sp>
        <p:nvSpPr>
          <p:cNvPr id="41" name="text-67"/>
          <p:cNvSpPr txBox="1"/>
          <p:nvPr/>
        </p:nvSpPr>
        <p:spPr>
          <a:xfrm>
            <a:off x="411480" y="5285232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42" name="card-68"/>
          <p:cNvSpPr/>
          <p:nvPr/>
        </p:nvSpPr>
        <p:spPr>
          <a:xfrm>
            <a:off x="411480" y="5550408"/>
            <a:ext cx="1136599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43" name="text-69"/>
          <p:cNvSpPr txBox="1"/>
          <p:nvPr/>
        </p:nvSpPr>
        <p:spPr>
          <a:xfrm>
            <a:off x="502920" y="5596128"/>
            <a:ext cx="17114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· seeded generator · N-CMAPSS / C-MAPSS loader</a:t>
            </a:r>
            <a:endParaRPr lang="en-US" sz="1050" dirty="0"/>
          </a:p>
        </p:txBody>
      </p:sp>
      <p:sp>
        <p:nvSpPr>
          <p:cNvPr id="44" name="text-70"/>
          <p:cNvSpPr txBox="1"/>
          <p:nvPr/>
        </p:nvSpPr>
        <p:spPr>
          <a:xfrm>
            <a:off x="2397252" y="5596128"/>
            <a:ext cx="17114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HistGradientBoosting · split-conformal</a:t>
            </a:r>
            <a:endParaRPr lang="en-US" sz="1050" dirty="0"/>
          </a:p>
        </p:txBody>
      </p:sp>
      <p:sp>
        <p:nvSpPr>
          <p:cNvPr id="45" name="text-71"/>
          <p:cNvSpPr txBox="1"/>
          <p:nvPr/>
        </p:nvSpPr>
        <p:spPr>
          <a:xfrm>
            <a:off x="4291584" y="5596128"/>
            <a:ext cx="17114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OR-Tools CP-SAT</a:t>
            </a:r>
            <a:endParaRPr lang="en-US" sz="1050" dirty="0"/>
          </a:p>
        </p:txBody>
      </p:sp>
      <p:sp>
        <p:nvSpPr>
          <p:cNvPr id="46" name="text-72"/>
          <p:cNvSpPr txBox="1"/>
          <p:nvPr/>
        </p:nvSpPr>
        <p:spPr>
          <a:xfrm>
            <a:off x="6185916" y="5596128"/>
            <a:ext cx="17114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</a:t>
            </a:r>
            <a:endParaRPr lang="en-US" sz="1050" dirty="0"/>
          </a:p>
        </p:txBody>
      </p:sp>
      <p:sp>
        <p:nvSpPr>
          <p:cNvPr id="47" name="text-73"/>
          <p:cNvSpPr txBox="1"/>
          <p:nvPr/>
        </p:nvSpPr>
        <p:spPr>
          <a:xfrm>
            <a:off x="8080248" y="5596128"/>
            <a:ext cx="17114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· uvicorn · Chart.js (vendored)</a:t>
            </a:r>
            <a:endParaRPr lang="en-US" sz="1050" dirty="0"/>
          </a:p>
        </p:txBody>
      </p:sp>
      <p:sp>
        <p:nvSpPr>
          <p:cNvPr id="48" name="text-74"/>
          <p:cNvSpPr txBox="1"/>
          <p:nvPr/>
        </p:nvSpPr>
        <p:spPr>
          <a:xfrm>
            <a:off x="9974580" y="5596128"/>
            <a:ext cx="17114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pytest tests · same seed → same numbers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-75"/>
          <p:cNvSpPr/>
          <p:nvPr/>
        </p:nvSpPr>
        <p:spPr>
          <a:xfrm>
            <a:off x="274320" y="201168"/>
            <a:ext cx="1600200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Byte</a:t>
            </a:r>
            <a:endParaRPr lang="en-US" sz="17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2103120" y="237744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CANNIBALISATION, PRICED</a:t>
            </a:r>
            <a:endParaRPr lang="en-US" sz="3400" dirty="0"/>
          </a:p>
        </p:txBody>
      </p:sp>
      <p:sp>
        <p:nvSpPr>
          <p:cNvPr id="4" name="text-76"/>
          <p:cNvSpPr txBox="1"/>
          <p:nvPr/>
        </p:nvSpPr>
        <p:spPr>
          <a:xfrm>
            <a:off x="411480" y="1115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GAO-02-86 found (US Navy + Air Force, FY1996–2000)</a:t>
            </a:r>
            <a:endParaRPr lang="en-US" sz="1300" dirty="0"/>
          </a:p>
        </p:txBody>
      </p:sp>
      <p:graphicFrame>
        <p:nvGraphicFramePr>
          <p:cNvPr id="6" name="gao-table-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≈850,000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cannibalisations reported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≈5.3 million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maintenance hours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“at least twice as long as normal repairs”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 parts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from one aircraft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903–1,756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 cannibalised FA-18s not flown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readiness fell when the Army stopped (1987 test)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-78"/>
          <p:cNvSpPr txBox="1"/>
          <p:nvPr/>
        </p:nvSpPr>
        <p:spPr>
          <a:xfrm>
            <a:off x="411480" y="4526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Services' own policy: </a:t>
            </a:r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cannibalisations “aggravate the very same supply problems that they are meant to overcome.”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Load-bearing and corrosive at once.</a:t>
            </a:r>
            <a:endParaRPr lang="en-US" sz="1200" dirty="0"/>
          </a:p>
        </p:txBody>
      </p:sp>
      <p:sp>
        <p:nvSpPr>
          <p:cNvPr id="7" name="text-79"/>
          <p:cNvSpPr txBox="1"/>
          <p:nvPr/>
        </p:nvSpPr>
        <p:spPr>
          <a:xfrm>
            <a:off x="411480" y="5779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GAO-02-86, Military Aircraft: Services Need Strategies to Reduce Cannibalizations, Nov 2001.</a:t>
            </a:r>
            <a:endParaRPr lang="en-US" sz="1000" dirty="0"/>
          </a:p>
        </p:txBody>
      </p:sp>
      <p:sp>
        <p:nvSpPr>
          <p:cNvPr id="8" name="text-80"/>
          <p:cNvSpPr txBox="1"/>
          <p:nvPr/>
        </p:nvSpPr>
        <p:spPr>
          <a:xfrm>
            <a:off x="4526280" y="1115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FLIGHTLINE prices it</a:t>
            </a:r>
            <a:endParaRPr lang="en-US" sz="1500" dirty="0"/>
          </a:p>
        </p:txBody>
      </p:sp>
      <p:sp>
        <p:nvSpPr>
          <p:cNvPr id="9" name="card-81"/>
          <p:cNvSpPr/>
          <p:nvPr/>
        </p:nvSpPr>
        <p:spPr>
          <a:xfrm>
            <a:off x="4526280" y="1536192"/>
            <a:ext cx="3474720" cy="1481328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-82"/>
          <p:cNvSpPr txBox="1"/>
          <p:nvPr/>
        </p:nvSpPr>
        <p:spPr>
          <a:xfrm>
            <a:off x="4663440" y="1609344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= recipient gain − donor loss − re-failure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donor takes the recipient's place in the spares queue: the swap moves the hole, it does not fill it. Swap labour 2× normal (GAO). Moved part loses 20% of remaining life — a modelled assumption, labelled on screen.</a:t>
            </a:r>
            <a:endParaRPr lang="en-US" sz="1150" dirty="0"/>
          </a:p>
        </p:txBody>
      </p:sp>
      <p:sp>
        <p:nvSpPr>
          <p:cNvPr id="11" name="text-83"/>
          <p:cNvSpPr txBox="1"/>
          <p:nvPr/>
        </p:nvSpPr>
        <p:spPr>
          <a:xfrm>
            <a:off x="4526280" y="31821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radar transmitter for grounded TAIL-02:</a:t>
            </a:r>
            <a:endParaRPr lang="en-US" sz="1250" dirty="0"/>
          </a:p>
        </p:txBody>
      </p:sp>
      <p:sp>
        <p:nvSpPr>
          <p:cNvPr id="12" name="card-84"/>
          <p:cNvSpPr/>
          <p:nvPr/>
        </p:nvSpPr>
        <p:spPr>
          <a:xfrm>
            <a:off x="4526280" y="3547872"/>
            <a:ext cx="3474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3" name="text-85"/>
          <p:cNvSpPr txBox="1"/>
          <p:nvPr/>
        </p:nvSpPr>
        <p:spPr>
          <a:xfrm>
            <a:off x="4663440" y="354787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TAIL-03 grounded for the horizon</a:t>
            </a:r>
            <a:endParaRPr lang="en-US" sz="1200" dirty="0"/>
          </a:p>
        </p:txBody>
      </p:sp>
      <p:sp>
        <p:nvSpPr>
          <p:cNvPr id="14" name="text-86"/>
          <p:cNvSpPr txBox="1"/>
          <p:nvPr/>
        </p:nvSpPr>
        <p:spPr>
          <a:xfrm>
            <a:off x="6720840" y="3547872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+28.0</a:t>
            </a:r>
            <a:endParaRPr lang="en-US" sz="2400" dirty="0"/>
          </a:p>
        </p:txBody>
      </p:sp>
      <p:sp>
        <p:nvSpPr>
          <p:cNvPr id="15" name="card-87"/>
          <p:cNvSpPr/>
          <p:nvPr/>
        </p:nvSpPr>
        <p:spPr>
          <a:xfrm>
            <a:off x="4526280" y="4261104"/>
            <a:ext cx="3474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6" name="text-88"/>
          <p:cNvSpPr txBox="1"/>
          <p:nvPr/>
        </p:nvSpPr>
        <p:spPr>
          <a:xfrm>
            <a:off x="4663440" y="426110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TAIL-06 down 11 more days anyway</a:t>
            </a:r>
            <a:endParaRPr lang="en-US" sz="1200" dirty="0"/>
          </a:p>
        </p:txBody>
      </p:sp>
      <p:sp>
        <p:nvSpPr>
          <p:cNvPr id="17" name="text-89"/>
          <p:cNvSpPr txBox="1"/>
          <p:nvPr/>
        </p:nvSpPr>
        <p:spPr>
          <a:xfrm>
            <a:off x="6720840" y="4261104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+8.9</a:t>
            </a:r>
            <a:endParaRPr lang="en-US" sz="2400" dirty="0"/>
          </a:p>
        </p:txBody>
      </p:sp>
      <p:sp>
        <p:nvSpPr>
          <p:cNvPr id="18" name="card-90"/>
          <p:cNvSpPr/>
          <p:nvPr/>
        </p:nvSpPr>
        <p:spPr>
          <a:xfrm>
            <a:off x="4526280" y="4974336"/>
            <a:ext cx="34747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9" name="text-91"/>
          <p:cNvSpPr txBox="1"/>
          <p:nvPr/>
        </p:nvSpPr>
        <p:spPr>
          <a:xfrm>
            <a:off x="4663440" y="497433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TAIL-03 flying today</a:t>
            </a:r>
            <a:endParaRPr lang="en-US" sz="1200" dirty="0"/>
          </a:p>
        </p:txBody>
      </p:sp>
      <p:sp>
        <p:nvSpPr>
          <p:cNvPr id="20" name="text-92"/>
          <p:cNvSpPr txBox="1"/>
          <p:nvPr/>
        </p:nvSpPr>
        <p:spPr>
          <a:xfrm>
            <a:off x="6720840" y="4974336"/>
            <a:ext cx="114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−2.0</a:t>
            </a:r>
            <a:endParaRPr lang="en-US" sz="2400" dirty="0"/>
          </a:p>
        </p:txBody>
      </p:sp>
      <p:sp>
        <p:nvSpPr>
          <p:cNvPr id="21" name="text-93"/>
          <p:cNvSpPr txBox="1"/>
          <p:nvPr/>
        </p:nvSpPr>
        <p:spPr>
          <a:xfrm>
            <a:off x="4526280" y="5705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aircraft-days over 30 days</a:t>
            </a:r>
            <a:endParaRPr lang="en-US" sz="1050" dirty="0"/>
          </a:p>
        </p:txBody>
      </p:sp>
      <p:pic>
        <p:nvPicPr>
          <p:cNvPr id="22" name="shot-94" descr="FLIGHTLINE cannibalisation card: +1 aircraft in 2 days, +28.0 aircraft-days over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115568"/>
            <a:ext cx="3547872" cy="4431771"/>
          </a:xfrm>
          <a:prstGeom prst="rect">
            <a:avLst/>
          </a:prstGeom>
        </p:spPr>
      </p:pic>
      <p:sp>
        <p:nvSpPr>
          <p:cNvPr id="23" name="shot-frame-95"/>
          <p:cNvSpPr/>
          <p:nvPr/>
        </p:nvSpPr>
        <p:spPr>
          <a:xfrm>
            <a:off x="8229600" y="1115568"/>
            <a:ext cx="3547872" cy="4431771"/>
          </a:xfrm>
          <a:prstGeom prst="rect">
            <a:avLst/>
          </a:prstGeom>
          <a:ln w="9525">
            <a:solidFill>
              <a:srgbClr val="9AA6B1"/>
            </a:solidFill>
            <a:prstDash val="solid"/>
          </a:ln>
        </p:spPr>
      </p:sp>
      <p:sp>
        <p:nvSpPr>
          <p:cNvPr id="24" name="text-96"/>
          <p:cNvSpPr txBox="1"/>
          <p:nvPr/>
        </p:nvSpPr>
        <p:spPr>
          <a:xfrm>
            <a:off x="8229600" y="5602203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card in the prototype (TAIL-01 and TAIL-03 grounded)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-97"/>
          <p:cNvSpPr/>
          <p:nvPr/>
        </p:nvSpPr>
        <p:spPr>
          <a:xfrm>
            <a:off x="274320" y="201168"/>
            <a:ext cx="1600200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Byte</a:t>
            </a:r>
            <a:endParaRPr lang="en-US" sz="17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2103120" y="237744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ABSTENTION GATE</a:t>
            </a:r>
            <a:endParaRPr lang="en-US" sz="3400" dirty="0"/>
          </a:p>
        </p:txBody>
      </p:sp>
      <p:sp>
        <p:nvSpPr>
          <p:cNvPr id="4" name="text-98"/>
          <p:cNvSpPr txBox="1"/>
          <p:nvPr/>
        </p:nvSpPr>
        <p:spPr>
          <a:xfrm>
            <a:off x="411480" y="111556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tell you when we don't know.</a:t>
            </a:r>
            <a:endParaRPr lang="en-US" sz="1900" dirty="0"/>
          </a:p>
        </p:txBody>
      </p:sp>
      <p:sp>
        <p:nvSpPr>
          <p:cNvPr id="5" name="card-99"/>
          <p:cNvSpPr/>
          <p:nvPr/>
        </p:nvSpPr>
        <p:spPr>
          <a:xfrm>
            <a:off x="411480" y="1874520"/>
            <a:ext cx="342900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-100"/>
          <p:cNvSpPr txBox="1"/>
          <p:nvPr/>
        </p:nvSpPr>
        <p:spPr>
          <a:xfrm>
            <a:off x="548640" y="1947672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Abstain when the 90% interval is wider than the decision window </a:t>
            </a:r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its lower edge falls inside it.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recommend inspection, not a prediction</a:t>
            </a:r>
            <a:endParaRPr lang="en-US" sz="1150" dirty="0"/>
          </a:p>
        </p:txBody>
      </p:sp>
      <p:sp>
        <p:nvSpPr>
          <p:cNvPr id="7" name="text-101"/>
          <p:cNvSpPr txBox="1"/>
          <p:nvPr/>
        </p:nvSpPr>
        <p:spPr>
          <a:xfrm>
            <a:off x="411480" y="33101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91.6%</a:t>
            </a:r>
            <a:endParaRPr lang="en-US" sz="2800" dirty="0"/>
          </a:p>
        </p:txBody>
      </p:sp>
      <p:sp>
        <p:nvSpPr>
          <p:cNvPr id="8" name="text-102"/>
          <p:cNvSpPr txBox="1"/>
          <p:nvPr/>
        </p:nvSpPr>
        <p:spPr>
          <a:xfrm>
            <a:off x="1874520" y="3310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on 1,296 held-out points (target 90%)</a:t>
            </a:r>
            <a:endParaRPr lang="en-US" sz="1100" dirty="0"/>
          </a:p>
        </p:txBody>
      </p:sp>
      <p:sp>
        <p:nvSpPr>
          <p:cNvPr id="9" name="text-103"/>
          <p:cNvSpPr txBox="1"/>
          <p:nvPr/>
        </p:nvSpPr>
        <p:spPr>
          <a:xfrm>
            <a:off x="411480" y="39684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800" dirty="0"/>
          </a:p>
        </p:txBody>
      </p:sp>
      <p:sp>
        <p:nvSpPr>
          <p:cNvPr id="10" name="text-104"/>
          <p:cNvSpPr txBox="1"/>
          <p:nvPr/>
        </p:nvSpPr>
        <p:spPr>
          <a:xfrm>
            <a:off x="1874520" y="396849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in the last 20 cycles before failure (85 points)</a:t>
            </a:r>
            <a:endParaRPr lang="en-US" sz="1100" dirty="0"/>
          </a:p>
        </p:txBody>
      </p:sp>
      <p:sp>
        <p:nvSpPr>
          <p:cNvPr id="11" name="text-105"/>
          <p:cNvSpPr txBox="1"/>
          <p:nvPr/>
        </p:nvSpPr>
        <p:spPr>
          <a:xfrm>
            <a:off x="411480" y="46268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2" name="text-106"/>
          <p:cNvSpPr txBox="1"/>
          <p:nvPr/>
        </p:nvSpPr>
        <p:spPr>
          <a:xfrm>
            <a:off x="1874520" y="462686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flagged for inspection today; 3 confident enough to order; 128 monitored</a:t>
            </a:r>
            <a:endParaRPr lang="en-US" sz="1100" dirty="0"/>
          </a:p>
        </p:txBody>
      </p:sp>
      <p:sp>
        <p:nvSpPr>
          <p:cNvPr id="13" name="text-107"/>
          <p:cNvSpPr txBox="1"/>
          <p:nvPr/>
        </p:nvSpPr>
        <p:spPr>
          <a:xfrm>
            <a:off x="411480" y="534924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Mondrian conformalised quantile regression: calibrated separately in three bands of predicted RUL, so the guarantee holds near failure, not just on average.</a:t>
            </a:r>
            <a:endParaRPr lang="en-US" sz="1100" dirty="0"/>
          </a:p>
        </p:txBody>
      </p:sp>
      <p:pic>
        <p:nvPicPr>
          <p:cNvPr id="14" name="shot-108" descr="Abstention gate: remaining-life intervals against decision wind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15568"/>
            <a:ext cx="7662672" cy="3317244"/>
          </a:xfrm>
          <a:prstGeom prst="rect">
            <a:avLst/>
          </a:prstGeom>
        </p:spPr>
      </p:pic>
      <p:sp>
        <p:nvSpPr>
          <p:cNvPr id="15" name="shot-frame-109"/>
          <p:cNvSpPr/>
          <p:nvPr/>
        </p:nvSpPr>
        <p:spPr>
          <a:xfrm>
            <a:off x="4114800" y="1115568"/>
            <a:ext cx="7662672" cy="3317244"/>
          </a:xfrm>
          <a:prstGeom prst="rect">
            <a:avLst/>
          </a:prstGeom>
          <a:ln w="9525">
            <a:solidFill>
              <a:srgbClr val="9AA6B1"/>
            </a:solidFill>
            <a:prstDash val="solid"/>
          </a:ln>
        </p:spPr>
      </p:sp>
      <p:sp>
        <p:nvSpPr>
          <p:cNvPr id="16" name="text-110"/>
          <p:cNvSpPr txBox="1"/>
          <p:nvPr/>
        </p:nvSpPr>
        <p:spPr>
          <a:xfrm>
            <a:off x="4114800" y="4524252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bar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90% interval narrow enough to act on: order now.   </a:t>
            </a:r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bar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wider than its decision window (shaded): the model abstains.</a:t>
            </a:r>
            <a:endParaRPr lang="en-US" sz="1150" dirty="0"/>
          </a:p>
        </p:txBody>
      </p:sp>
      <p:sp>
        <p:nvSpPr>
          <p:cNvPr id="17" name="card-111"/>
          <p:cNvSpPr/>
          <p:nvPr/>
        </p:nvSpPr>
        <p:spPr>
          <a:xfrm>
            <a:off x="4114800" y="5091180"/>
            <a:ext cx="7662672" cy="11724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8" name="text-112"/>
          <p:cNvSpPr txBox="1"/>
          <p:nvPr/>
        </p:nvSpPr>
        <p:spPr>
          <a:xfrm>
            <a:off x="4279392" y="5136900"/>
            <a:ext cx="7315200" cy="108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false negative can cost aircrew and a false positive wastes a sortie, a system that knows the limits of its own confidence is worth more than one that is slightly more accurate on average.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-113"/>
          <p:cNvSpPr/>
          <p:nvPr/>
        </p:nvSpPr>
        <p:spPr>
          <a:xfrm>
            <a:off x="274320" y="201168"/>
            <a:ext cx="1600200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Byte</a:t>
            </a:r>
            <a:endParaRPr lang="en-US" sz="17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2103120" y="237744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</a:t>
            </a:r>
            <a:endParaRPr lang="en-US" sz="3400" dirty="0"/>
          </a:p>
        </p:txBody>
      </p:sp>
      <p:pic>
        <p:nvPicPr>
          <p:cNvPr id="4" name="shot-114" descr="FLIGHTLINE dashboard: headline Ao and line 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6949440" cy="4343400"/>
          </a:xfrm>
          <a:prstGeom prst="rect">
            <a:avLst/>
          </a:prstGeom>
        </p:spPr>
      </p:pic>
      <p:sp>
        <p:nvSpPr>
          <p:cNvPr id="5" name="shot-frame-115"/>
          <p:cNvSpPr/>
          <p:nvPr/>
        </p:nvSpPr>
        <p:spPr>
          <a:xfrm>
            <a:off x="411480" y="1115568"/>
            <a:ext cx="6949440" cy="4343400"/>
          </a:xfrm>
          <a:prstGeom prst="rect">
            <a:avLst/>
          </a:prstGeom>
          <a:ln w="9525">
            <a:solidFill>
              <a:srgbClr val="9AA6B1"/>
            </a:solidFill>
            <a:prstDash val="solid"/>
          </a:ln>
        </p:spPr>
      </p:sp>
      <p:sp>
        <p:nvSpPr>
          <p:cNvPr id="6" name="text-116"/>
          <p:cNvSpPr txBox="1"/>
          <p:nvPr/>
        </p:nvSpPr>
        <p:spPr>
          <a:xfrm>
            <a:off x="411480" y="551383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prototype · 127.0.0.1:8000 · offline · seed 26249 · re-solves in ≈1.0 s</a:t>
            </a:r>
            <a:endParaRPr lang="en-US" sz="1050" dirty="0"/>
          </a:p>
        </p:txBody>
      </p:sp>
      <p:sp>
        <p:nvSpPr>
          <p:cNvPr id="7" name="text-117"/>
          <p:cNvSpPr txBox="1"/>
          <p:nvPr/>
        </p:nvSpPr>
        <p:spPr>
          <a:xfrm>
            <a:off x="411480" y="5852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82.7% → 85.6%  ·  +64 aircraft-days  ·  +18 sorties flown  ·  sorties lost 23 → 5</a:t>
            </a:r>
            <a:endParaRPr lang="en-US" sz="1250" dirty="0"/>
          </a:p>
        </p:txBody>
      </p:sp>
      <p:sp>
        <p:nvSpPr>
          <p:cNvPr id="8" name="text-118"/>
          <p:cNvSpPr txBox="1"/>
          <p:nvPr/>
        </p:nvSpPr>
        <p:spPr>
          <a:xfrm>
            <a:off x="7909560" y="1115568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panel break it</a:t>
            </a:r>
            <a:endParaRPr lang="en-US" sz="1700" dirty="0"/>
          </a:p>
        </p:txBody>
      </p:sp>
      <p:sp>
        <p:nvSpPr>
          <p:cNvPr id="9" name="card-119"/>
          <p:cNvSpPr/>
          <p:nvPr/>
        </p:nvSpPr>
        <p:spPr>
          <a:xfrm>
            <a:off x="7909560" y="1572768"/>
            <a:ext cx="3867912" cy="135331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-120"/>
          <p:cNvSpPr txBox="1"/>
          <p:nvPr/>
        </p:nvSpPr>
        <p:spPr>
          <a:xfrm>
            <a:off x="8046720" y="1645920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“Ground two aircraft at Base A.”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01 and 03</a:t>
            </a:r>
            <a:endParaRPr lang="en-US" sz="1250" dirty="0"/>
          </a:p>
        </p:txBody>
      </p:sp>
      <p:sp>
        <p:nvSpPr>
          <p:cNvPr id="11" name="text-121"/>
          <p:cNvSpPr txBox="1"/>
          <p:nvPr/>
        </p:nvSpPr>
        <p:spPr>
          <a:xfrm>
            <a:off x="8046720" y="2176272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falls to 79.0%. Top action becomes: cannibalise the radar from grounded TAIL-03 to TAIL-02, +28.0 aircraft-days.</a:t>
            </a:r>
            <a:endParaRPr lang="en-US" sz="1150" dirty="0"/>
          </a:p>
        </p:txBody>
      </p:sp>
      <p:sp>
        <p:nvSpPr>
          <p:cNvPr id="12" name="card-122"/>
          <p:cNvSpPr/>
          <p:nvPr/>
        </p:nvSpPr>
        <p:spPr>
          <a:xfrm>
            <a:off x="7909560" y="3054096"/>
            <a:ext cx="3867912" cy="135331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-123"/>
          <p:cNvSpPr txBox="1"/>
          <p:nvPr/>
        </p:nvSpPr>
        <p:spPr>
          <a:xfrm>
            <a:off x="8046720" y="3127248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“Spares convoy is 10 days late.”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convoy delay to 10</a:t>
            </a:r>
            <a:endParaRPr lang="en-US" sz="1250" dirty="0"/>
          </a:p>
        </p:txBody>
      </p:sp>
      <p:sp>
        <p:nvSpPr>
          <p:cNvPr id="14" name="text-124"/>
          <p:cNvSpPr txBox="1"/>
          <p:nvPr/>
        </p:nvSpPr>
        <p:spPr>
          <a:xfrm>
            <a:off x="8046720" y="3657600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Spares share of the gap 8.0 → 9.9 pts; order-now parts 3 → 10; priced cannibalisation +60.</a:t>
            </a:r>
            <a:endParaRPr lang="en-US" sz="1150" dirty="0"/>
          </a:p>
        </p:txBody>
      </p:sp>
      <p:sp>
        <p:nvSpPr>
          <p:cNvPr id="15" name="card-125"/>
          <p:cNvSpPr/>
          <p:nvPr/>
        </p:nvSpPr>
        <p:spPr>
          <a:xfrm>
            <a:off x="7909560" y="4535424"/>
            <a:ext cx="3867912" cy="135331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text-126"/>
          <p:cNvSpPr txBox="1"/>
          <p:nvPr/>
        </p:nvSpPr>
        <p:spPr>
          <a:xfrm>
            <a:off x="8046720" y="4608576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“Surge: 40% more sorties.”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sortie surge to +40%</a:t>
            </a:r>
            <a:endParaRPr lang="en-US" sz="1250" dirty="0"/>
          </a:p>
        </p:txBody>
      </p:sp>
      <p:sp>
        <p:nvSpPr>
          <p:cNvPr id="17" name="text-127"/>
          <p:cNvSpPr txBox="1"/>
          <p:nvPr/>
        </p:nvSpPr>
        <p:spPr>
          <a:xfrm>
            <a:off x="8046720" y="5138928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Sorties lost: 64 under current practice vs 39 under the plan (+83 aircraft-days).</a:t>
            </a:r>
            <a:endParaRPr lang="en-US" sz="1150" dirty="0"/>
          </a:p>
        </p:txBody>
      </p:sp>
      <p:sp>
        <p:nvSpPr>
          <p:cNvPr id="18" name="text-128"/>
          <p:cNvSpPr txBox="1"/>
          <p:nvPr/>
        </p:nvSpPr>
        <p:spPr>
          <a:xfrm>
            <a:off x="7909560" y="605332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carries “Why this number?” — the trace of which silo said what.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-129"/>
          <p:cNvSpPr/>
          <p:nvPr/>
        </p:nvSpPr>
        <p:spPr>
          <a:xfrm>
            <a:off x="274320" y="201168"/>
            <a:ext cx="1600200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Byte</a:t>
            </a:r>
            <a:endParaRPr lang="en-US" sz="17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2103120" y="237744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400" dirty="0"/>
          </a:p>
        </p:txBody>
      </p:sp>
      <p:sp>
        <p:nvSpPr>
          <p:cNvPr id="4" name="text-130"/>
          <p:cNvSpPr txBox="1"/>
          <p:nvPr/>
        </p:nvSpPr>
        <p:spPr>
          <a:xfrm>
            <a:off x="411480" y="111556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DATA</a:t>
            </a:r>
            <a:endParaRPr lang="en-US" sz="1500" dirty="0"/>
          </a:p>
        </p:txBody>
      </p:sp>
      <p:sp>
        <p:nvSpPr>
          <p:cNvPr id="5" name="text-131"/>
          <p:cNvSpPr txBox="1"/>
          <p:nvPr/>
        </p:nvSpPr>
        <p:spPr>
          <a:xfrm>
            <a:off x="411480" y="1508760"/>
            <a:ext cx="3593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no IAF data and do not pretend to. The badge says SYNTHETIC SCENARIO on every screen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Degradation: 432 run-to-failure units with the shape of NASA N-CMAPSS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real N-CMAPSS / C-MAPSS files in data/raw and the model retrains on real engines; logistics stay synthetic and the badge says so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never see ground truth; it is used only to backtest</a:t>
            </a:r>
            <a:endParaRPr lang="en-US" sz="1200" dirty="0"/>
          </a:p>
        </p:txBody>
      </p:sp>
      <p:sp>
        <p:nvSpPr>
          <p:cNvPr id="6" name="text-132"/>
          <p:cNvSpPr txBox="1"/>
          <p:nvPr/>
        </p:nvSpPr>
        <p:spPr>
          <a:xfrm>
            <a:off x="4297680" y="111556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PLATFORM-AGNOSTIC</a:t>
            </a:r>
            <a:endParaRPr lang="en-US" sz="1500" dirty="0"/>
          </a:p>
        </p:txBody>
      </p:sp>
      <p:sp>
        <p:nvSpPr>
          <p:cNvPr id="7" name="text-133"/>
          <p:cNvSpPr txBox="1"/>
          <p:nvPr/>
        </p:nvSpPr>
        <p:spPr>
          <a:xfrm>
            <a:off x="4297680" y="1508760"/>
            <a:ext cx="3593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degradation model; everything above it is unchanged. Fewer labelled failures do not make it unsafe — the interval widens and it warns earlier:</a:t>
            </a:r>
            <a:endParaRPr lang="en-US" sz="1200" dirty="0"/>
          </a:p>
        </p:txBody>
      </p:sp>
      <p:graphicFrame>
        <p:nvGraphicFramePr>
          <p:cNvPr id="8" name="finetune-chart-134" descr=""/>
          <p:cNvGraphicFramePr/>
          <p:nvPr/>
        </p:nvGraphicFramePr>
        <p:xfrm>
          <a:off x="4297680" y="2395728"/>
          <a:ext cx="3593592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-135"/>
          <p:cNvSpPr txBox="1"/>
          <p:nvPr/>
        </p:nvSpPr>
        <p:spPr>
          <a:xfrm>
            <a:off x="4297680" y="4389120"/>
            <a:ext cx="3593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APH stays 95%–100% from 12 to 216 labelled failures. More data buys efficiency, not safety.</a:t>
            </a:r>
            <a:endParaRPr lang="en-US" sz="1100" dirty="0"/>
          </a:p>
        </p:txBody>
      </p:sp>
      <p:sp>
        <p:nvSpPr>
          <p:cNvPr id="10" name="text-136"/>
          <p:cNvSpPr txBox="1"/>
          <p:nvPr/>
        </p:nvSpPr>
        <p:spPr>
          <a:xfrm>
            <a:off x="8183880" y="111556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→ MITIGATIONS</a:t>
            </a:r>
            <a:endParaRPr lang="en-US" sz="1500" dirty="0"/>
          </a:p>
        </p:txBody>
      </p:sp>
      <p:graphicFrame>
        <p:nvGraphicFramePr>
          <p:cNvPr id="9" name="risk-table-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1508760"/>
          <a:ext cx="35935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26771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≠ real fleet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layer is model-agnostic; conformal recalibrates on a small held-out set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Classified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Air-gapped on one base server; no cloud, no external API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Ranks and prices, never authorises; every number traceable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Optimiser approximations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plan re-scored by the full simulator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card-138"/>
          <p:cNvSpPr/>
          <p:nvPr/>
        </p:nvSpPr>
        <p:spPr>
          <a:xfrm>
            <a:off x="411480" y="5029200"/>
            <a:ext cx="11365992" cy="1261872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-139"/>
          <p:cNvSpPr txBox="1"/>
          <p:nvPr/>
        </p:nvSpPr>
        <p:spPr>
          <a:xfrm>
            <a:off x="548640" y="50840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1150" dirty="0"/>
          </a:p>
        </p:txBody>
      </p:sp>
      <p:sp>
        <p:nvSpPr>
          <p:cNvPr id="14" name="text-140"/>
          <p:cNvSpPr txBox="1"/>
          <p:nvPr/>
        </p:nvSpPr>
        <p:spPr>
          <a:xfrm>
            <a:off x="548640" y="5340096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Arias Chao M. et al., Aircraft engine run-to-failure dataset under real flight conditions (N-CMAPSS), Data 6(1):5, 2021 · Saxena A. et al., C-MAPSS, PHM 2008</a:t>
            </a:r>
            <a:endParaRPr lang="en-US" sz="10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Romano Y., Patterson E., Candès E., Conformalized Quantile Regression, NeurIPS 2019</a:t>
            </a:r>
            <a:endParaRPr lang="en-US" sz="10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GAO, GAO-02-86, Military Aircraft: Services Need Strategies to Reduce Cannibalizations, 2001 · Sherbrooke C., METRIC, Operations Research 16(1), 1968</a:t>
            </a:r>
            <a:endParaRPr lang="en-US" sz="10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OR-Tools CP-SAT solver · scikit-learn HistGradientBoostingRegressor · NetworkX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-141"/>
          <p:cNvSpPr/>
          <p:nvPr/>
        </p:nvSpPr>
        <p:spPr>
          <a:xfrm>
            <a:off x="274320" y="201168"/>
            <a:ext cx="1600200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Byte</a:t>
            </a:r>
            <a:endParaRPr lang="en-US" sz="17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2103120" y="237744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 ATTRIBUTION</a:t>
            </a:r>
            <a:endParaRPr lang="en-US" sz="3400" dirty="0"/>
          </a:p>
        </p:txBody>
      </p:sp>
      <p:sp>
        <p:nvSpPr>
          <p:cNvPr id="4" name="text-142"/>
          <p:cNvSpPr txBox="1"/>
          <p:nvPr/>
        </p:nvSpPr>
        <p:spPr>
          <a:xfrm>
            <a:off x="411480" y="1097280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availability 82.7% and not 93.7%?</a:t>
            </a:r>
            <a:endParaRPr lang="en-US" sz="1900" dirty="0"/>
          </a:p>
        </p:txBody>
      </p:sp>
      <p:pic>
        <p:nvPicPr>
          <p:cNvPr id="5" name="shot-143" descr="Attribution waterfall under current pract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00200"/>
            <a:ext cx="5669280" cy="4491248"/>
          </a:xfrm>
          <a:prstGeom prst="rect">
            <a:avLst/>
          </a:prstGeom>
        </p:spPr>
      </p:pic>
      <p:sp>
        <p:nvSpPr>
          <p:cNvPr id="6" name="shot-frame-144"/>
          <p:cNvSpPr/>
          <p:nvPr/>
        </p:nvSpPr>
        <p:spPr>
          <a:xfrm>
            <a:off x="411480" y="1600200"/>
            <a:ext cx="5669280" cy="4491248"/>
          </a:xfrm>
          <a:prstGeom prst="rect">
            <a:avLst/>
          </a:prstGeom>
          <a:ln w="9525">
            <a:solidFill>
              <a:srgbClr val="9AA6B1"/>
            </a:solidFill>
            <a:prstDash val="solid"/>
          </a:ln>
        </p:spPr>
      </p:sp>
      <p:graphicFrame>
        <p:nvGraphicFramePr>
          <p:cNvPr id="10" name="attr-table-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00200"/>
          <a:ext cx="542239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Points of Ao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Aircraft-days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 for spares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 for a depot bay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Unscheduled removal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Cannibalisation cascade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gap below the ceiling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card-146"/>
          <p:cNvSpPr/>
          <p:nvPr/>
        </p:nvSpPr>
        <p:spPr>
          <a:xfrm>
            <a:off x="6355080" y="4096512"/>
            <a:ext cx="5422392" cy="1143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-147"/>
          <p:cNvSpPr txBox="1"/>
          <p:nvPr/>
        </p:nvSpPr>
        <p:spPr>
          <a:xfrm>
            <a:off x="6519672" y="4133088"/>
            <a:ext cx="509320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grounded aircraft-day is counted once, under its highest-priority reason, so the causes add up to the gap exactly. It is a unit-tested invariant, not a chart.</a:t>
            </a:r>
            <a:endParaRPr lang="en-US" sz="1350" dirty="0"/>
          </a:p>
        </p:txBody>
      </p:sp>
      <p:sp>
        <p:nvSpPr>
          <p:cNvPr id="10" name="text-148"/>
          <p:cNvSpPr txBox="1"/>
          <p:nvPr/>
        </p:nvSpPr>
        <p:spPr>
          <a:xfrm>
            <a:off x="6355080" y="5440680"/>
            <a:ext cx="5422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screen a Base Maintenance Officer opens at 0700.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-149"/>
          <p:cNvSpPr/>
          <p:nvPr/>
        </p:nvSpPr>
        <p:spPr>
          <a:xfrm>
            <a:off x="274320" y="201168"/>
            <a:ext cx="1600200" cy="7498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064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Byte</a:t>
            </a:r>
            <a:endParaRPr lang="en-US" sz="17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2103120" y="237744"/>
            <a:ext cx="7818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400" dirty="0"/>
          </a:p>
        </p:txBody>
      </p:sp>
      <p:sp>
        <p:nvSpPr>
          <p:cNvPr id="4" name="card-150"/>
          <p:cNvSpPr/>
          <p:nvPr/>
        </p:nvSpPr>
        <p:spPr>
          <a:xfrm>
            <a:off x="411480" y="1143000"/>
            <a:ext cx="2679192" cy="16002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-151"/>
          <p:cNvSpPr txBox="1"/>
          <p:nvPr/>
        </p:nvSpPr>
        <p:spPr>
          <a:xfrm>
            <a:off x="548640" y="1207008"/>
            <a:ext cx="2404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+64</a:t>
            </a:r>
            <a:endParaRPr lang="en-US" sz="3400" dirty="0"/>
          </a:p>
        </p:txBody>
      </p:sp>
      <p:sp>
        <p:nvSpPr>
          <p:cNvPr id="6" name="text-152"/>
          <p:cNvSpPr txBox="1"/>
          <p:nvPr/>
        </p:nvSpPr>
        <p:spPr>
          <a:xfrm>
            <a:off x="548640" y="192024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aircraft-days in 90 days on a 24-aircraft fleet (+3.0 pts Ao), same aircraft, parts and bays</a:t>
            </a:r>
            <a:endParaRPr lang="en-US" sz="1150" dirty="0"/>
          </a:p>
        </p:txBody>
      </p:sp>
      <p:sp>
        <p:nvSpPr>
          <p:cNvPr id="7" name="card-153"/>
          <p:cNvSpPr/>
          <p:nvPr/>
        </p:nvSpPr>
        <p:spPr>
          <a:xfrm>
            <a:off x="3307385" y="1143000"/>
            <a:ext cx="2679192" cy="16002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-154"/>
          <p:cNvSpPr txBox="1"/>
          <p:nvPr/>
        </p:nvSpPr>
        <p:spPr>
          <a:xfrm>
            <a:off x="3444545" y="1207008"/>
            <a:ext cx="2404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→ 5</a:t>
            </a:r>
            <a:endParaRPr lang="en-US" sz="3400" dirty="0"/>
          </a:p>
        </p:txBody>
      </p:sp>
      <p:sp>
        <p:nvSpPr>
          <p:cNvPr id="9" name="text-155"/>
          <p:cNvSpPr txBox="1"/>
          <p:nvPr/>
        </p:nvSpPr>
        <p:spPr>
          <a:xfrm>
            <a:off x="3444545" y="192024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tasked sorties lost to unavailability, current practice → plan</a:t>
            </a:r>
            <a:endParaRPr lang="en-US" sz="1150" dirty="0"/>
          </a:p>
        </p:txBody>
      </p:sp>
      <p:sp>
        <p:nvSpPr>
          <p:cNvPr id="10" name="card-156"/>
          <p:cNvSpPr/>
          <p:nvPr/>
        </p:nvSpPr>
        <p:spPr>
          <a:xfrm>
            <a:off x="6203290" y="1143000"/>
            <a:ext cx="2679192" cy="16002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-157"/>
          <p:cNvSpPr txBox="1"/>
          <p:nvPr/>
        </p:nvSpPr>
        <p:spPr>
          <a:xfrm>
            <a:off x="6340450" y="1207008"/>
            <a:ext cx="2404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 → 0.5</a:t>
            </a:r>
            <a:endParaRPr lang="en-US" sz="3400" dirty="0"/>
          </a:p>
        </p:txBody>
      </p:sp>
      <p:sp>
        <p:nvSpPr>
          <p:cNvPr id="12" name="text-158"/>
          <p:cNvSpPr txBox="1"/>
          <p:nvPr/>
        </p:nvSpPr>
        <p:spPr>
          <a:xfrm>
            <a:off x="6340450" y="192024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days an inspection waits for a depot bay</a:t>
            </a:r>
            <a:endParaRPr lang="en-US" sz="1150" dirty="0"/>
          </a:p>
        </p:txBody>
      </p:sp>
      <p:sp>
        <p:nvSpPr>
          <p:cNvPr id="13" name="card-159"/>
          <p:cNvSpPr/>
          <p:nvPr/>
        </p:nvSpPr>
        <p:spPr>
          <a:xfrm>
            <a:off x="9099194" y="1143000"/>
            <a:ext cx="2679192" cy="16002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-160"/>
          <p:cNvSpPr txBox="1"/>
          <p:nvPr/>
        </p:nvSpPr>
        <p:spPr>
          <a:xfrm>
            <a:off x="9236354" y="1207008"/>
            <a:ext cx="2404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3400" dirty="0"/>
          </a:p>
        </p:txBody>
      </p:sp>
      <p:sp>
        <p:nvSpPr>
          <p:cNvPr id="15" name="text-161"/>
          <p:cNvSpPr txBox="1"/>
          <p:nvPr/>
        </p:nvSpPr>
        <p:spPr>
          <a:xfrm>
            <a:off x="9236354" y="192024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failures warned in time to act (capped-RMSE model: 32%)</a:t>
            </a:r>
            <a:endParaRPr lang="en-US" sz="1150" dirty="0"/>
          </a:p>
        </p:txBody>
      </p:sp>
      <p:sp>
        <p:nvSpPr>
          <p:cNvPr id="16" name="frame-162"/>
          <p:cNvSpPr/>
          <p:nvPr/>
        </p:nvSpPr>
        <p:spPr>
          <a:xfrm>
            <a:off x="411480" y="2971800"/>
            <a:ext cx="3657600" cy="13716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7" name="text-163"/>
          <p:cNvSpPr txBox="1"/>
          <p:nvPr/>
        </p:nvSpPr>
        <p:spPr>
          <a:xfrm>
            <a:off x="548640" y="3044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MAINTENANCE OFFICER</a:t>
            </a:r>
            <a:endParaRPr lang="en-US" sz="1250" dirty="0"/>
          </a:p>
        </p:txBody>
      </p:sp>
      <p:sp>
        <p:nvSpPr>
          <p:cNvPr id="18" name="text-164"/>
          <p:cNvSpPr txBox="1"/>
          <p:nvPr/>
        </p:nvSpPr>
        <p:spPr>
          <a:xfrm>
            <a:off x="548640" y="3383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availability is what it is, by cause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depot induction to move, and when</a:t>
            </a:r>
            <a:endParaRPr lang="en-US" sz="1250" dirty="0"/>
          </a:p>
        </p:txBody>
      </p:sp>
      <p:sp>
        <p:nvSpPr>
          <p:cNvPr id="19" name="frame-165"/>
          <p:cNvSpPr/>
          <p:nvPr/>
        </p:nvSpPr>
        <p:spPr>
          <a:xfrm>
            <a:off x="4265676" y="2971800"/>
            <a:ext cx="3657600" cy="13716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20" name="text-166"/>
          <p:cNvSpPr txBox="1"/>
          <p:nvPr/>
        </p:nvSpPr>
        <p:spPr>
          <a:xfrm>
            <a:off x="4402836" y="3044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OFFICER</a:t>
            </a:r>
            <a:endParaRPr lang="en-US" sz="1250" dirty="0"/>
          </a:p>
        </p:txBody>
      </p:sp>
      <p:sp>
        <p:nvSpPr>
          <p:cNvPr id="21" name="text-167"/>
          <p:cNvSpPr txBox="1"/>
          <p:nvPr/>
        </p:nvSpPr>
        <p:spPr>
          <a:xfrm>
            <a:off x="4402836" y="3383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spare, stocked where, unlocks the most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order to expedite, with its aircraft-days</a:t>
            </a:r>
            <a:endParaRPr lang="en-US" sz="1250" dirty="0"/>
          </a:p>
        </p:txBody>
      </p:sp>
      <p:sp>
        <p:nvSpPr>
          <p:cNvPr id="22" name="frame-168"/>
          <p:cNvSpPr/>
          <p:nvPr/>
        </p:nvSpPr>
        <p:spPr>
          <a:xfrm>
            <a:off x="8119872" y="2971800"/>
            <a:ext cx="3657600" cy="13716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23" name="text-169"/>
          <p:cNvSpPr txBox="1"/>
          <p:nvPr/>
        </p:nvSpPr>
        <p:spPr>
          <a:xfrm>
            <a:off x="8257032" y="3044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OFFICER</a:t>
            </a:r>
            <a:endParaRPr lang="en-US" sz="1250" dirty="0"/>
          </a:p>
        </p:txBody>
      </p:sp>
      <p:sp>
        <p:nvSpPr>
          <p:cNvPr id="24" name="text-170"/>
          <p:cNvSpPr txBox="1"/>
          <p:nvPr/>
        </p:nvSpPr>
        <p:spPr>
          <a:xfrm>
            <a:off x="8257032" y="3383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Cannibalisation priced before it is signed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Inspect-or-order, with the model's own uncertainty</a:t>
            </a:r>
            <a:endParaRPr lang="en-US" sz="1250" dirty="0"/>
          </a:p>
        </p:txBody>
      </p:sp>
      <p:sp>
        <p:nvSpPr>
          <p:cNvPr id="25" name="card-171"/>
          <p:cNvSpPr/>
          <p:nvPr/>
        </p:nvSpPr>
        <p:spPr>
          <a:xfrm>
            <a:off x="411480" y="4572000"/>
            <a:ext cx="5577840" cy="171907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6" name="text-172"/>
          <p:cNvSpPr txBox="1"/>
          <p:nvPr/>
        </p:nvSpPr>
        <p:spPr>
          <a:xfrm>
            <a:off x="566928" y="4718304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by construction: one base server, one SQLite file, open-source stack. No cloud call, no LLM, no GPU, no foreign dependency. Nothing leaves the base network.</a:t>
            </a:r>
            <a:endParaRPr lang="en-US" sz="1300" dirty="0"/>
          </a:p>
        </p:txBody>
      </p:sp>
      <p:sp>
        <p:nvSpPr>
          <p:cNvPr id="27" name="card-173"/>
          <p:cNvSpPr/>
          <p:nvPr/>
        </p:nvSpPr>
        <p:spPr>
          <a:xfrm>
            <a:off x="6199632" y="4572000"/>
            <a:ext cx="557784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28" name="text-174"/>
          <p:cNvSpPr txBox="1"/>
          <p:nvPr/>
        </p:nvSpPr>
        <p:spPr>
          <a:xfrm>
            <a:off x="6355080" y="4718304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NEXT</a:t>
            </a:r>
            <a:endParaRPr lang="en-US" sz="12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removals for one LRU family</a:t>
            </a:r>
            <a:endParaRPr lang="en-US" sz="12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Lead-time history and stock levels by base</a:t>
            </a:r>
            <a:endParaRPr lang="en-US" sz="12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counts and phase intervals for one type; cannibalisation logs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IGHTLINE SIH">
  <a:themeElements>
    <a:clrScheme name="FLIGHTLINE SIH">
      <a:dk1>
        <a:srgbClr val="000000"/>
      </a:dk1>
      <a:lt1>
        <a:srgbClr val="FFFFFF"/>
      </a:lt1>
      <a:dk2>
        <a:srgbClr val="1F3A5F"/>
      </a:dk2>
      <a:lt2>
        <a:srgbClr val="EEF3F8"/>
      </a:lt2>
      <a:accent1>
        <a:srgbClr val="0070C0"/>
      </a:accent1>
      <a:accent2>
        <a:srgbClr val="B07D1A"/>
      </a:accent2>
      <a:accent3>
        <a:srgbClr val="C0392B"/>
      </a:accent3>
      <a:accent4>
        <a:srgbClr val="4A72C4"/>
      </a:accent4>
      <a:accent5>
        <a:srgbClr val="6B7780"/>
      </a:accent5>
      <a:accent6>
        <a:srgbClr val="2E7D32"/>
      </a:accent6>
      <a:hlink>
        <a:srgbClr val="0070C0"/>
      </a:hlink>
      <a:folHlink>
        <a:srgbClr val="5B2C83"/>
      </a:folHlink>
    </a:clrScheme>
    <a:fontScheme name="FLIGHTLINE SIH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FLIGHTLINE — Fleet Availability Twin (SIH26249)</dc:title>
  <dc:subject>Smart India Hackathon 2026 · SIH26249</dc:subject>
  <dc:creator>Code Byte</dc:creator>
  <cp:lastModifiedBy>Code Byte</cp:lastModifiedBy>
  <cp:revision>1</cp:revision>
  <dcterms:created xsi:type="dcterms:W3CDTF">2026-10-20T12:06:15Z</dcterms:created>
  <dcterms:modified xsi:type="dcterms:W3CDTF">2026-10-20T12:06:15Z</dcterms:modified>
</cp:coreProperties>
</file>