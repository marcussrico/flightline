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574ee1e3-5936-a7a7-14fe-3542a8d76391}">
          <p14:sldIdLst>
            <p14:sldId id="256"/>
          </p14:sldIdLst>
        </p14:section>
        <p14:section name="Idea" id="{dc48b88a-eb3f-6205-dbae-cbc57dfa92ab}">
          <p14:sldIdLst>
            <p14:sldId id="257"/>
          </p14:sldIdLst>
        </p14:section>
        <p14:section name="Technical approach" id="{0aab63a2-d6e7-8c2d-40dd-2f6288060b15}">
          <p14:sldIdLst>
            <p14:sldId id="258"/>
          </p14:sldIdLst>
        </p14:section>
        <p14:section name="Feasibility and viability" id="{3793b994-6838-af4f-85fc-0b8db9e328ca}">
          <p14:sldIdLst>
            <p14:sldId id="259"/>
          </p14:sldIdLst>
        </p14:section>
        <p14:section name="Impact and benefits" id="{a10bc858-d822-023b-1560-ab743b6c0a57}">
          <p14:sldIdLst>
            <p14:sldId id="260"/>
          </p14:sldIdLst>
        </p14:section>
        <p14:section name="Research and references" id="{978bf97a-18d1-3a90-95ed-ae6cad076bd9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000000"/>
                </a:solidFill>
                <a:latin typeface="+mn-lt"/>
              </a:rPr>
              <a:t>Warning lead ÷ window vs labelled failures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Warning lead ÷ decision window</c:v>
                </c:pt>
              </c:strCache>
            </c:strRef>
          </c:tx>
          <c:spPr>
            <a:solidFill>
              <a:srgbClr val="0070C0"/>
            </a:solidFill>
            <a:ln w="31750" cap="flat">
              <a:solidFill>
                <a:srgbClr val="0070C0"/>
              </a:solidFill>
              <a:prstDash val="solid"/>
              <a:round/>
            </a:ln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444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70C0"/>
              </a:solidFill>
              <a:ln w="9525" cap="flat">
                <a:solidFill>
                  <a:srgbClr val="0070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12</c:v>
                  </c:pt>
                  <c:pt idx="1">
                    <c:v>24</c:v>
                  </c:pt>
                  <c:pt idx="2">
                    <c:v>48</c:v>
                  </c:pt>
                  <c:pt idx="3">
                    <c:v>96</c:v>
                  </c:pt>
                  <c:pt idx="4">
                    <c:v>144</c:v>
                  </c:pt>
                  <c:pt idx="5">
                    <c:v>216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3.17</c:v>
                </c:pt>
                <c:pt idx="1">
                  <c:v>2.46</c:v>
                </c:pt>
                <c:pt idx="2">
                  <c:v>2.44</c:v>
                </c:pt>
                <c:pt idx="3">
                  <c:v>1.92</c:v>
                </c:pt>
                <c:pt idx="4">
                  <c:v>1.89</c:v>
                </c:pt>
                <c:pt idx="5">
                  <c:v>1.81</c:v>
                </c:pt>
              </c:numCache>
            </c:numRef>
          </c:val>
          <c:smooth val="0"/>
        </c:ser>
        <c:dLbls>
          <c:numFmt formatCode="0.0&quot;×&quot;" sourceLinked="0"/>
          <c:txPr>
            <a:bodyPr/>
            <a:lstStyle/>
            <a:p>
              <a:pPr>
                <a:defRPr b="0" i="0" strike="noStrike" sz="900" u="none">
                  <a:solidFill>
                    <a:srgbClr val="444444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333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8"/>
          <c:min val="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EF3F8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One sentence: every other team predicts when a part fails; FLIGHTLINE predicts how many sortie-days the fleet is about to lose, and names the single action that saves the most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statement does not say the models are inaccurate. It says the data never meets. So we do not compete on accuracy: we join the four silos and optimise the number the Air Force already runs on — operational availability. The capped model has RMSE 0.9 against ours 48.6, and still warns in time for only 32% of failures, because it cannot see past 15 cycles and most spares take longer than that to arrive.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twin that matters is of the maintenance system, not the engine. Air-gapped by construction: no cloud call, no LLM, no GPU, one SQLite file. Units: the model predicts RUL in cycles (sorties); it becomes days only when divided by planned utilisation. The headline delta is always simulator vs simulator — never the optimiser's own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weakness before the panel finds it. We have no IAF data and do not pretend to. Our claim is not that this model transfers to a Su-30. Our claim is that the decision layer is platform-agnostic: the twin, the simulator, the attribution, the optimiser, the cannibalisation price and the abstention gate are unchanged when the degradation model is swapped.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Aircraft-days recovered from the same aircraft, parts and bays — by joining the data, not by buying anything. Every grounded aircraft-day is counted once under its highest-priority reason, so the causes add up to the gap exactly; that is a unit-tested invariant. The numbers are from the synthetic scenario; the first step with real data is one LRU family at one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reference here is used in the build, not decoration. The GAO report is the evidence the panel will recognise: cannibalisation is necessary and corrosive, so we price it. The pilot needs one LRU family at one base for 90 days in shadow mode — officers keep deciding, FLIGHTLINE only advises, and we measure APH and aircraft-days against what actually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H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ai/ae59e700-15de-4417-810f-41855f20d109/scratchpad/deckbuild/shots/sih_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155448"/>
            <a:ext cx="658368" cy="7498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80192" y="18288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50" dirty="0"/>
          </a:p>
        </p:txBody>
      </p:sp>
      <p:sp>
        <p:nvSpPr>
          <p:cNvPr id="4" name="Shape 1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5" name="Text 2"/>
          <p:cNvSpPr/>
          <p:nvPr/>
        </p:nvSpPr>
        <p:spPr>
          <a:xfrm>
            <a:off x="3200400" y="6419088"/>
            <a:ext cx="5788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13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H title 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ai/ae59e700-15de-4417-810f-41855f20d109/scratchpad/deckbuild/shots/sih_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155448"/>
            <a:ext cx="658368" cy="7498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80192" y="18288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INDIA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</a:t>
            </a:r>
            <a:endParaRPr lang="en-US" sz="12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4D5A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457200" y="256032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4200" dirty="0"/>
          </a:p>
        </p:txBody>
      </p:sp>
      <p:sp>
        <p:nvSpPr>
          <p:cNvPr id="3" name="title-2"/>
          <p:cNvSpPr txBox="1"/>
          <p:nvPr/>
        </p:nvSpPr>
        <p:spPr>
          <a:xfrm>
            <a:off x="457200" y="118872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3400" dirty="0"/>
          </a:p>
        </p:txBody>
      </p:sp>
      <p:sp>
        <p:nvSpPr>
          <p:cNvPr id="4" name="hex-3"/>
          <p:cNvSpPr/>
          <p:nvPr/>
        </p:nvSpPr>
        <p:spPr>
          <a:xfrm rot="5400000">
            <a:off x="7086600" y="1417320"/>
            <a:ext cx="4206240" cy="4846320"/>
          </a:xfrm>
          <a:prstGeom prst="hexagon">
            <a:avLst/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sp>
        <p:nvSpPr>
          <p:cNvPr id="5" name="hex-4"/>
          <p:cNvSpPr/>
          <p:nvPr/>
        </p:nvSpPr>
        <p:spPr>
          <a:xfrm rot="5400000">
            <a:off x="6400800" y="960120"/>
            <a:ext cx="1737360" cy="1920240"/>
          </a:xfrm>
          <a:prstGeom prst="hexagon">
            <a:avLst/>
          </a:prstGeom>
          <a:ln w="76200">
            <a:solidFill>
              <a:srgbClr val="E1E1E1"/>
            </a:solidFill>
            <a:prstDash val="solid"/>
          </a:ln>
        </p:spPr>
      </p:sp>
      <p:sp>
        <p:nvSpPr>
          <p:cNvPr id="6" name="hex-5"/>
          <p:cNvSpPr/>
          <p:nvPr/>
        </p:nvSpPr>
        <p:spPr>
          <a:xfrm rot="5400000">
            <a:off x="5989320" y="4069080"/>
            <a:ext cx="914400" cy="1051560"/>
          </a:xfrm>
          <a:prstGeom prst="hexagon">
            <a:avLst/>
          </a:prstGeom>
          <a:solidFill>
            <a:srgbClr val="ECECEC"/>
          </a:solidFill>
          <a:ln w="12700">
            <a:solidFill>
              <a:srgbClr val="ECECEC"/>
            </a:solidFill>
            <a:prstDash val="solid"/>
          </a:ln>
        </p:spPr>
      </p:sp>
      <p:pic>
        <p:nvPicPr>
          <p:cNvPr id="7" name="emblem-6" descr="Smart India Hackathon embl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103120"/>
            <a:ext cx="2377440" cy="2717627"/>
          </a:xfrm>
          <a:prstGeom prst="rect">
            <a:avLst/>
          </a:prstGeom>
        </p:spPr>
      </p:pic>
      <p:sp>
        <p:nvSpPr>
          <p:cNvPr id="8" name="details-7"/>
          <p:cNvSpPr txBox="1"/>
          <p:nvPr/>
        </p:nvSpPr>
        <p:spPr>
          <a:xfrm>
            <a:off x="502920" y="2103120"/>
            <a:ext cx="5760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ID: </a:t>
            </a: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SIH26249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Title: </a:t>
            </a: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Power — Predictive Maintenance &amp; Fleet Availability (Ministry of Defence)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</a:t>
            </a:r>
            <a:r>
              <a:rPr lang="en-US" sz="1800" i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as listed on the SIH portal]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Category: </a:t>
            </a: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Name: </a:t>
            </a: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Byte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Idea: </a:t>
            </a:r>
            <a:r>
              <a:rPr lang="en-US" sz="18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</a:t>
            </a:r>
            <a:r>
              <a:rPr lang="en-US" sz="1800" b="1" spc="200" kern="0" dirty="0">
                <a:solidFill>
                  <a:srgbClr val="A31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Fleet Availability Twin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8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IDEA TITLE</a:t>
            </a:r>
            <a:endParaRPr lang="en-US" sz="3400" dirty="0"/>
          </a:p>
        </p:txBody>
      </p:sp>
      <p:sp>
        <p:nvSpPr>
          <p:cNvPr id="4" name="text-9"/>
          <p:cNvSpPr txBox="1"/>
          <p:nvPr/>
        </p:nvSpPr>
        <p:spPr>
          <a:xfrm>
            <a:off x="411480" y="1097280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</a:t>
            </a:r>
            <a:r>
              <a:rPr lang="en-US" sz="2000" b="1" spc="200" kern="0" dirty="0">
                <a:solidFill>
                  <a:srgbClr val="A31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Fleet Availability Twin</a:t>
            </a:r>
            <a:endParaRPr lang="en-US" sz="2000" dirty="0"/>
          </a:p>
        </p:txBody>
      </p:sp>
      <p:sp>
        <p:nvSpPr>
          <p:cNvPr id="5" name="text-10"/>
          <p:cNvSpPr txBox="1"/>
          <p:nvPr/>
        </p:nvSpPr>
        <p:spPr>
          <a:xfrm>
            <a:off x="411480" y="1444752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 layer that joins the four maintenance silos, predicts how many sortie-days the fleet is about to lose, and names the action that saves the most of them — scored in aircraft-days, not RMSE.</a:t>
            </a:r>
            <a:endParaRPr lang="en-US" sz="1400" dirty="0"/>
          </a:p>
        </p:txBody>
      </p:sp>
      <p:sp>
        <p:nvSpPr>
          <p:cNvPr id="6" name="frame-11"/>
          <p:cNvSpPr/>
          <p:nvPr/>
        </p:nvSpPr>
        <p:spPr>
          <a:xfrm>
            <a:off x="411480" y="2057400"/>
            <a:ext cx="3429000" cy="4224528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7" name="frame-12"/>
          <p:cNvSpPr/>
          <p:nvPr/>
        </p:nvSpPr>
        <p:spPr>
          <a:xfrm>
            <a:off x="4023360" y="2057400"/>
            <a:ext cx="3931920" cy="4224528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8" name="frame-13"/>
          <p:cNvSpPr/>
          <p:nvPr/>
        </p:nvSpPr>
        <p:spPr>
          <a:xfrm>
            <a:off x="8138160" y="2057400"/>
            <a:ext cx="3639312" cy="4224528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9" name="text-14"/>
          <p:cNvSpPr txBox="1"/>
          <p:nvPr/>
        </p:nvSpPr>
        <p:spPr>
          <a:xfrm>
            <a:off x="576072" y="2185416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:</a:t>
            </a:r>
            <a:endParaRPr lang="en-US" sz="2000" dirty="0"/>
          </a:p>
        </p:txBody>
      </p:sp>
      <p:sp>
        <p:nvSpPr>
          <p:cNvPr id="10" name="text-15"/>
          <p:cNvSpPr txBox="1"/>
          <p:nvPr/>
        </p:nvSpPr>
        <p:spPr>
          <a:xfrm>
            <a:off x="576072" y="2679192"/>
            <a:ext cx="3118104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statement names fragmentation, not accuracy: </a:t>
            </a:r>
            <a:r>
              <a:rPr lang="en-US" sz="1350" i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“fragmented and largely reactive … not adequately integrated”.</a:t>
            </a:r>
            <a:endParaRPr lang="en-US" sz="135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monitoring, technical records, spares and MRO agencies never meet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fault predicted on Tuesday collides with a six-week spares lead time — the aircraft sits on the ground anyway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 is signed without a price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 models report RMSE; nobody reports aircraft-days</a:t>
            </a:r>
            <a:endParaRPr lang="en-US" sz="1350" dirty="0"/>
          </a:p>
        </p:txBody>
      </p:sp>
      <p:sp>
        <p:nvSpPr>
          <p:cNvPr id="11" name="text-16"/>
          <p:cNvSpPr txBox="1"/>
          <p:nvPr/>
        </p:nvSpPr>
        <p:spPr>
          <a:xfrm>
            <a:off x="4187952" y="2185416"/>
            <a:ext cx="3602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:</a:t>
            </a:r>
            <a:endParaRPr lang="en-US" sz="2000" dirty="0"/>
          </a:p>
        </p:txBody>
      </p:sp>
      <p:sp>
        <p:nvSpPr>
          <p:cNvPr id="12" name="text-17"/>
          <p:cNvSpPr txBox="1"/>
          <p:nvPr/>
        </p:nvSpPr>
        <p:spPr>
          <a:xfrm>
            <a:off x="4187952" y="2679192"/>
            <a:ext cx="3621024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GRAPH OF THE FOUR SILOS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→ LRU → part → stock → depot bay → sorties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PROGNOSIS WITH HONEST INTERVALS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 life as a 90% conformal interval; abstains when unsure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SIMULATOR + CP-SAT OPTIMISER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days, day by day; re-sequences depot inductions and expedites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ACTIONS IN AIRCRAFT-DAYS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with “Why this number?”; live what-if re-solves in ≈1.0 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ranks and prices. It never authorises — the signature stays with the officer.</a:t>
            </a:r>
            <a:endParaRPr lang="en-US" sz="1300" dirty="0"/>
          </a:p>
        </p:txBody>
      </p:sp>
      <p:sp>
        <p:nvSpPr>
          <p:cNvPr id="13" name="text-18"/>
          <p:cNvSpPr txBox="1"/>
          <p:nvPr/>
        </p:nvSpPr>
        <p:spPr>
          <a:xfrm>
            <a:off x="8302752" y="2185416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NEW :</a:t>
            </a:r>
            <a:endParaRPr lang="en-US" sz="2000" dirty="0"/>
          </a:p>
        </p:txBody>
      </p:sp>
      <p:sp>
        <p:nvSpPr>
          <p:cNvPr id="14" name="text-19"/>
          <p:cNvSpPr txBox="1"/>
          <p:nvPr/>
        </p:nvSpPr>
        <p:spPr>
          <a:xfrm>
            <a:off x="8302752" y="2697480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31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 vs 32%</a:t>
            </a:r>
            <a:endParaRPr lang="en-US" sz="2100" dirty="0"/>
          </a:p>
        </p:txBody>
      </p:sp>
      <p:sp>
        <p:nvSpPr>
          <p:cNvPr id="15" name="text-20"/>
          <p:cNvSpPr txBox="1"/>
          <p:nvPr/>
        </p:nvSpPr>
        <p:spPr>
          <a:xfrm>
            <a:off x="8302752" y="306324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failures warned in time to act (APH), against a capped-RUL model with the better RMSE</a:t>
            </a:r>
            <a:endParaRPr lang="en-US" sz="1150" dirty="0"/>
          </a:p>
        </p:txBody>
      </p:sp>
      <p:sp>
        <p:nvSpPr>
          <p:cNvPr id="16" name="text-21"/>
          <p:cNvSpPr txBox="1"/>
          <p:nvPr/>
        </p:nvSpPr>
        <p:spPr>
          <a:xfrm>
            <a:off x="8302752" y="3584448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31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+8.9 vs −2.0</a:t>
            </a:r>
            <a:endParaRPr lang="en-US" sz="2100" dirty="0"/>
          </a:p>
        </p:txBody>
      </p:sp>
      <p:sp>
        <p:nvSpPr>
          <p:cNvPr id="17" name="text-22"/>
          <p:cNvSpPr txBox="1"/>
          <p:nvPr/>
        </p:nvSpPr>
        <p:spPr>
          <a:xfrm>
            <a:off x="8302752" y="3950208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 priced in aircraft-days: donor already down vs a flying donor</a:t>
            </a:r>
            <a:endParaRPr lang="en-US" sz="1150" dirty="0"/>
          </a:p>
        </p:txBody>
      </p:sp>
      <p:sp>
        <p:nvSpPr>
          <p:cNvPr id="18" name="text-23"/>
          <p:cNvSpPr txBox="1"/>
          <p:nvPr/>
        </p:nvSpPr>
        <p:spPr>
          <a:xfrm>
            <a:off x="8302752" y="4471416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31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91.6%</a:t>
            </a:r>
            <a:endParaRPr lang="en-US" sz="2100" dirty="0"/>
          </a:p>
        </p:txBody>
      </p:sp>
      <p:sp>
        <p:nvSpPr>
          <p:cNvPr id="19" name="text-24"/>
          <p:cNvSpPr txBox="1"/>
          <p:nvPr/>
        </p:nvSpPr>
        <p:spPr>
          <a:xfrm>
            <a:off x="8302752" y="4837176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coverage; when the interval is too wide it says “inspect”, not a guess</a:t>
            </a:r>
            <a:endParaRPr lang="en-US" sz="1150" dirty="0"/>
          </a:p>
        </p:txBody>
      </p:sp>
      <p:sp>
        <p:nvSpPr>
          <p:cNvPr id="20" name="text-25"/>
          <p:cNvSpPr txBox="1"/>
          <p:nvPr/>
        </p:nvSpPr>
        <p:spPr>
          <a:xfrm>
            <a:off x="8302752" y="5358384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31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 pts</a:t>
            </a:r>
            <a:endParaRPr lang="en-US" sz="2100" dirty="0"/>
          </a:p>
        </p:txBody>
      </p:sp>
      <p:sp>
        <p:nvSpPr>
          <p:cNvPr id="21" name="text-26"/>
          <p:cNvSpPr txBox="1"/>
          <p:nvPr/>
        </p:nvSpPr>
        <p:spPr>
          <a:xfrm>
            <a:off x="8302752" y="5724144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lost availability attributed by cause — 8.0 of them to spares lead time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27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3400" dirty="0"/>
          </a:p>
        </p:txBody>
      </p:sp>
      <p:sp>
        <p:nvSpPr>
          <p:cNvPr id="4" name="card-28"/>
          <p:cNvSpPr/>
          <p:nvPr/>
        </p:nvSpPr>
        <p:spPr>
          <a:xfrm>
            <a:off x="411480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-29"/>
          <p:cNvSpPr txBox="1"/>
          <p:nvPr/>
        </p:nvSpPr>
        <p:spPr>
          <a:xfrm>
            <a:off x="521208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MONITORING</a:t>
            </a:r>
            <a:endParaRPr lang="en-US" sz="1200" dirty="0"/>
          </a:p>
        </p:txBody>
      </p:sp>
      <p:sp>
        <p:nvSpPr>
          <p:cNvPr id="6" name="text-30"/>
          <p:cNvSpPr txBox="1"/>
          <p:nvPr/>
        </p:nvSpPr>
        <p:spPr>
          <a:xfrm>
            <a:off x="521208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 installed LRUs · multivariate sensor histories, 6 operating regimes (N-CMAPSS shape)</a:t>
            </a:r>
            <a:endParaRPr lang="en-US" sz="1100" dirty="0"/>
          </a:p>
        </p:txBody>
      </p:sp>
      <p:sp>
        <p:nvSpPr>
          <p:cNvPr id="7" name="arrow-31"/>
          <p:cNvSpPr/>
          <p:nvPr/>
        </p:nvSpPr>
        <p:spPr>
          <a:xfrm>
            <a:off x="1604772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8" name="card-32"/>
          <p:cNvSpPr/>
          <p:nvPr/>
        </p:nvSpPr>
        <p:spPr>
          <a:xfrm>
            <a:off x="3300984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text-33"/>
          <p:cNvSpPr txBox="1"/>
          <p:nvPr/>
        </p:nvSpPr>
        <p:spPr>
          <a:xfrm>
            <a:off x="3410712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RECORDS</a:t>
            </a:r>
            <a:endParaRPr lang="en-US" sz="1200" dirty="0"/>
          </a:p>
        </p:txBody>
      </p:sp>
      <p:sp>
        <p:nvSpPr>
          <p:cNvPr id="10" name="text-34"/>
          <p:cNvSpPr txBox="1"/>
          <p:nvPr/>
        </p:nvSpPr>
        <p:spPr>
          <a:xfrm>
            <a:off x="3410712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phase inspections due · durations · cannibalisation history</a:t>
            </a:r>
            <a:endParaRPr lang="en-US" sz="1100" dirty="0"/>
          </a:p>
        </p:txBody>
      </p:sp>
      <p:sp>
        <p:nvSpPr>
          <p:cNvPr id="11" name="arrow-35"/>
          <p:cNvSpPr/>
          <p:nvPr/>
        </p:nvSpPr>
        <p:spPr>
          <a:xfrm>
            <a:off x="4494276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2" name="card-36"/>
          <p:cNvSpPr/>
          <p:nvPr/>
        </p:nvSpPr>
        <p:spPr>
          <a:xfrm>
            <a:off x="6190488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3" name="text-37"/>
          <p:cNvSpPr txBox="1"/>
          <p:nvPr/>
        </p:nvSpPr>
        <p:spPr>
          <a:xfrm>
            <a:off x="6300216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SPARES</a:t>
            </a:r>
            <a:endParaRPr lang="en-US" sz="1200" dirty="0"/>
          </a:p>
        </p:txBody>
      </p:sp>
      <p:sp>
        <p:nvSpPr>
          <p:cNvPr id="14" name="text-38"/>
          <p:cNvSpPr txBox="1"/>
          <p:nvPr/>
        </p:nvSpPr>
        <p:spPr>
          <a:xfrm>
            <a:off x="6300216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stock locations · lead times 7–60 days · orders in transit</a:t>
            </a:r>
            <a:endParaRPr lang="en-US" sz="1100" dirty="0"/>
          </a:p>
        </p:txBody>
      </p:sp>
      <p:sp>
        <p:nvSpPr>
          <p:cNvPr id="15" name="arrow-39"/>
          <p:cNvSpPr/>
          <p:nvPr/>
        </p:nvSpPr>
        <p:spPr>
          <a:xfrm>
            <a:off x="7383780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6" name="card-40"/>
          <p:cNvSpPr/>
          <p:nvPr/>
        </p:nvSpPr>
        <p:spPr>
          <a:xfrm>
            <a:off x="9079992" y="1115568"/>
            <a:ext cx="2697480" cy="896112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7" name="text-41"/>
          <p:cNvSpPr txBox="1"/>
          <p:nvPr/>
        </p:nvSpPr>
        <p:spPr>
          <a:xfrm>
            <a:off x="9189720" y="1161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MRO AGENCIES</a:t>
            </a:r>
            <a:endParaRPr lang="en-US" sz="1200" dirty="0"/>
          </a:p>
        </p:txBody>
      </p:sp>
      <p:sp>
        <p:nvSpPr>
          <p:cNvPr id="18" name="text-42"/>
          <p:cNvSpPr txBox="1"/>
          <p:nvPr/>
        </p:nvSpPr>
        <p:spPr>
          <a:xfrm>
            <a:off x="9189720" y="1426464"/>
            <a:ext cx="2478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depots · 3 bays · one induction crew per depot per day</a:t>
            </a:r>
            <a:endParaRPr lang="en-US" sz="1100" dirty="0"/>
          </a:p>
        </p:txBody>
      </p:sp>
      <p:sp>
        <p:nvSpPr>
          <p:cNvPr id="19" name="arrow-43"/>
          <p:cNvSpPr/>
          <p:nvPr/>
        </p:nvSpPr>
        <p:spPr>
          <a:xfrm>
            <a:off x="10273284" y="2048256"/>
            <a:ext cx="310896" cy="237744"/>
          </a:xfrm>
          <a:prstGeom prst="down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0" name="card-44"/>
          <p:cNvSpPr/>
          <p:nvPr/>
        </p:nvSpPr>
        <p:spPr>
          <a:xfrm>
            <a:off x="411480" y="2331720"/>
            <a:ext cx="11365992" cy="5669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1" name="text-45"/>
          <p:cNvSpPr txBox="1"/>
          <p:nvPr/>
        </p:nvSpPr>
        <p:spPr>
          <a:xfrm>
            <a:off x="594360" y="233172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TWIN  </a:t>
            </a: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NetworkX graph · 200 nodes · 392 edges   ·   tail → installed LRU → part number → stock location → depot bay → sortie plan</a:t>
            </a:r>
            <a:endParaRPr lang="en-US" sz="1300" dirty="0"/>
          </a:p>
        </p:txBody>
      </p:sp>
      <p:sp>
        <p:nvSpPr>
          <p:cNvPr id="22" name="frame-46"/>
          <p:cNvSpPr/>
          <p:nvPr/>
        </p:nvSpPr>
        <p:spPr>
          <a:xfrm>
            <a:off x="411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3" name="text-47"/>
          <p:cNvSpPr txBox="1"/>
          <p:nvPr/>
        </p:nvSpPr>
        <p:spPr>
          <a:xfrm>
            <a:off x="521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PROGNOSIS</a:t>
            </a:r>
            <a:endParaRPr lang="en-US" sz="1250" dirty="0"/>
          </a:p>
        </p:txBody>
      </p:sp>
      <p:sp>
        <p:nvSpPr>
          <p:cNvPr id="24" name="text-48"/>
          <p:cNvSpPr txBox="1"/>
          <p:nvPr/>
        </p:nvSpPr>
        <p:spPr>
          <a:xfrm>
            <a:off x="521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HistGradientBoosting on rolling mean / std / slope per sensor + age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Mondrian conformalised quantile regression → 90% RUL interval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Abstains when interval &gt; decision window</a:t>
            </a:r>
            <a:endParaRPr lang="en-US" sz="1050" dirty="0"/>
          </a:p>
        </p:txBody>
      </p:sp>
      <p:sp>
        <p:nvSpPr>
          <p:cNvPr id="25" name="arrow-49"/>
          <p:cNvSpPr/>
          <p:nvPr/>
        </p:nvSpPr>
        <p:spPr>
          <a:xfrm>
            <a:off x="2528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6" name="frame-50"/>
          <p:cNvSpPr/>
          <p:nvPr/>
        </p:nvSpPr>
        <p:spPr>
          <a:xfrm>
            <a:off x="2697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7" name="text-51"/>
          <p:cNvSpPr txBox="1"/>
          <p:nvPr/>
        </p:nvSpPr>
        <p:spPr>
          <a:xfrm>
            <a:off x="2807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SIMULATOR</a:t>
            </a:r>
            <a:endParaRPr lang="en-US" sz="1250" dirty="0"/>
          </a:p>
        </p:txBody>
      </p:sp>
      <p:sp>
        <p:nvSpPr>
          <p:cNvPr id="28" name="text-52"/>
          <p:cNvSpPr txBox="1"/>
          <p:nvPr/>
        </p:nvSpPr>
        <p:spPr>
          <a:xfrm>
            <a:off x="2807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days, day by day; wear ∝ sorties flown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Base-stock (S−1, S) spares, FIFO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down-day = one labelled “hold” → exact attribution</a:t>
            </a:r>
            <a:endParaRPr lang="en-US" sz="1050" dirty="0"/>
          </a:p>
        </p:txBody>
      </p:sp>
      <p:sp>
        <p:nvSpPr>
          <p:cNvPr id="29" name="arrow-53"/>
          <p:cNvSpPr/>
          <p:nvPr/>
        </p:nvSpPr>
        <p:spPr>
          <a:xfrm>
            <a:off x="4814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0" name="frame-54"/>
          <p:cNvSpPr/>
          <p:nvPr/>
        </p:nvSpPr>
        <p:spPr>
          <a:xfrm>
            <a:off x="4983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1" name="text-55"/>
          <p:cNvSpPr txBox="1"/>
          <p:nvPr/>
        </p:nvSpPr>
        <p:spPr>
          <a:xfrm>
            <a:off x="5093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OPTIMISER</a:t>
            </a:r>
            <a:endParaRPr lang="en-US" sz="1250" dirty="0"/>
          </a:p>
        </p:txBody>
      </p:sp>
      <p:sp>
        <p:nvSpPr>
          <p:cNvPr id="32" name="text-56"/>
          <p:cNvSpPr txBox="1"/>
          <p:nvPr/>
        </p:nvSpPr>
        <p:spPr>
          <a:xfrm>
            <a:off x="5093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OR-Tools CP-SAT: induction day + depot, expedites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sortie-days, then aircraft-days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passes + simulator check; deterministic budget</a:t>
            </a:r>
            <a:endParaRPr lang="en-US" sz="1050" dirty="0"/>
          </a:p>
        </p:txBody>
      </p:sp>
      <p:sp>
        <p:nvSpPr>
          <p:cNvPr id="33" name="arrow-57"/>
          <p:cNvSpPr/>
          <p:nvPr/>
        </p:nvSpPr>
        <p:spPr>
          <a:xfrm>
            <a:off x="7100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4" name="frame-58"/>
          <p:cNvSpPr/>
          <p:nvPr/>
        </p:nvSpPr>
        <p:spPr>
          <a:xfrm>
            <a:off x="7269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5" name="text-59"/>
          <p:cNvSpPr txBox="1"/>
          <p:nvPr/>
        </p:nvSpPr>
        <p:spPr>
          <a:xfrm>
            <a:off x="7379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DECISION LAYER</a:t>
            </a:r>
            <a:endParaRPr lang="en-US" sz="1250" dirty="0"/>
          </a:p>
        </p:txBody>
      </p:sp>
      <p:sp>
        <p:nvSpPr>
          <p:cNvPr id="36" name="text-60"/>
          <p:cNvSpPr txBox="1"/>
          <p:nvPr/>
        </p:nvSpPr>
        <p:spPr>
          <a:xfrm>
            <a:off x="7379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 priced over 30 days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 unlock ranking (monotone replay)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in aircraft-days + causal trace</a:t>
            </a:r>
            <a:endParaRPr lang="en-US" sz="1050" dirty="0"/>
          </a:p>
        </p:txBody>
      </p:sp>
      <p:sp>
        <p:nvSpPr>
          <p:cNvPr id="37" name="arrow-61"/>
          <p:cNvSpPr/>
          <p:nvPr/>
        </p:nvSpPr>
        <p:spPr>
          <a:xfrm>
            <a:off x="9386316" y="3995928"/>
            <a:ext cx="155448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frame-62"/>
          <p:cNvSpPr/>
          <p:nvPr/>
        </p:nvSpPr>
        <p:spPr>
          <a:xfrm>
            <a:off x="9555480" y="3127248"/>
            <a:ext cx="21031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9" name="text-63"/>
          <p:cNvSpPr txBox="1"/>
          <p:nvPr/>
        </p:nvSpPr>
        <p:spPr>
          <a:xfrm>
            <a:off x="9665208" y="32186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DELIVERY</a:t>
            </a:r>
            <a:endParaRPr lang="en-US" sz="1250" dirty="0"/>
          </a:p>
        </p:txBody>
      </p:sp>
      <p:sp>
        <p:nvSpPr>
          <p:cNvPr id="40" name="text-64"/>
          <p:cNvSpPr txBox="1"/>
          <p:nvPr/>
        </p:nvSpPr>
        <p:spPr>
          <a:xfrm>
            <a:off x="9665208" y="3557016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offline dashboard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what-if, re-solves in ≈1.0 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Printable draft maintenance order</a:t>
            </a:r>
            <a:endParaRPr lang="en-US" sz="1050" dirty="0"/>
          </a:p>
        </p:txBody>
      </p:sp>
      <p:sp>
        <p:nvSpPr>
          <p:cNvPr id="41" name="text-65"/>
          <p:cNvSpPr txBox="1"/>
          <p:nvPr/>
        </p:nvSpPr>
        <p:spPr>
          <a:xfrm>
            <a:off x="411480" y="5285232"/>
            <a:ext cx="11365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42" name="card-66"/>
          <p:cNvSpPr/>
          <p:nvPr/>
        </p:nvSpPr>
        <p:spPr>
          <a:xfrm>
            <a:off x="411480" y="5550408"/>
            <a:ext cx="1136599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</p:sp>
      <p:sp>
        <p:nvSpPr>
          <p:cNvPr id="43" name="text-67"/>
          <p:cNvSpPr txBox="1"/>
          <p:nvPr/>
        </p:nvSpPr>
        <p:spPr>
          <a:xfrm>
            <a:off x="502920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· seeded generator · N-CMAPSS / C-MAPSS loader</a:t>
            </a:r>
            <a:endParaRPr lang="en-US" sz="1050" dirty="0"/>
          </a:p>
        </p:txBody>
      </p:sp>
      <p:sp>
        <p:nvSpPr>
          <p:cNvPr id="44" name="text-68"/>
          <p:cNvSpPr txBox="1"/>
          <p:nvPr/>
        </p:nvSpPr>
        <p:spPr>
          <a:xfrm>
            <a:off x="2397252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 HistGradientBoosting · split-conformal</a:t>
            </a:r>
            <a:endParaRPr lang="en-US" sz="1050" dirty="0"/>
          </a:p>
        </p:txBody>
      </p:sp>
      <p:sp>
        <p:nvSpPr>
          <p:cNvPr id="45" name="text-69"/>
          <p:cNvSpPr txBox="1"/>
          <p:nvPr/>
        </p:nvSpPr>
        <p:spPr>
          <a:xfrm>
            <a:off x="4291584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OR-Tools CP-SAT</a:t>
            </a:r>
            <a:endParaRPr lang="en-US" sz="1050" dirty="0"/>
          </a:p>
        </p:txBody>
      </p:sp>
      <p:sp>
        <p:nvSpPr>
          <p:cNvPr id="46" name="text-70"/>
          <p:cNvSpPr txBox="1"/>
          <p:nvPr/>
        </p:nvSpPr>
        <p:spPr>
          <a:xfrm>
            <a:off x="6185916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NetworkX</a:t>
            </a:r>
            <a:endParaRPr lang="en-US" sz="1050" dirty="0"/>
          </a:p>
        </p:txBody>
      </p:sp>
      <p:sp>
        <p:nvSpPr>
          <p:cNvPr id="47" name="text-71"/>
          <p:cNvSpPr txBox="1"/>
          <p:nvPr/>
        </p:nvSpPr>
        <p:spPr>
          <a:xfrm>
            <a:off x="8080248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FastAPI · Tailwind CSS · Chart.js, all bundled</a:t>
            </a:r>
            <a:endParaRPr lang="en-US" sz="1050" dirty="0"/>
          </a:p>
        </p:txBody>
      </p:sp>
      <p:sp>
        <p:nvSpPr>
          <p:cNvPr id="48" name="text-72"/>
          <p:cNvSpPr txBox="1"/>
          <p:nvPr/>
        </p:nvSpPr>
        <p:spPr>
          <a:xfrm>
            <a:off x="9974580" y="5596128"/>
            <a:ext cx="17114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 pytest tests · same seed → same numbers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73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3400" dirty="0"/>
          </a:p>
        </p:txBody>
      </p:sp>
      <p:sp>
        <p:nvSpPr>
          <p:cNvPr id="4" name="frame-74"/>
          <p:cNvSpPr/>
          <p:nvPr/>
        </p:nvSpPr>
        <p:spPr>
          <a:xfrm>
            <a:off x="411480" y="1115568"/>
            <a:ext cx="3794760" cy="51663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5" name="text-75"/>
          <p:cNvSpPr txBox="1"/>
          <p:nvPr/>
        </p:nvSpPr>
        <p:spPr>
          <a:xfrm>
            <a:off x="548640" y="120700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TECHNICALLY FEASIBLE</a:t>
            </a:r>
            <a:endParaRPr lang="en-US" sz="1700" dirty="0"/>
          </a:p>
        </p:txBody>
      </p:sp>
      <p:sp>
        <p:nvSpPr>
          <p:cNvPr id="6" name="text-76"/>
          <p:cNvSpPr txBox="1"/>
          <p:nvPr/>
        </p:nvSpPr>
        <p:spPr>
          <a:xfrm>
            <a:off x="548640" y="154533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Built, running and tested — offline</a:t>
            </a:r>
            <a:endParaRPr lang="en-US" sz="1150" dirty="0"/>
          </a:p>
        </p:txBody>
      </p:sp>
      <p:pic>
        <p:nvPicPr>
          <p:cNvPr id="7" name="shot-77" descr="FLIGHTLINE prototype: overview and line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65376"/>
            <a:ext cx="3520440" cy="2200275"/>
          </a:xfrm>
          <a:prstGeom prst="rect">
            <a:avLst/>
          </a:prstGeom>
        </p:spPr>
      </p:pic>
      <p:sp>
        <p:nvSpPr>
          <p:cNvPr id="8" name="shot-frame-78"/>
          <p:cNvSpPr/>
          <p:nvPr/>
        </p:nvSpPr>
        <p:spPr>
          <a:xfrm>
            <a:off x="548640" y="1865376"/>
            <a:ext cx="3520440" cy="2200275"/>
          </a:xfrm>
          <a:prstGeom prst="rect">
            <a:avLst/>
          </a:prstGeom>
          <a:ln w="9525">
            <a:solidFill>
              <a:srgbClr val="9AA6B1"/>
            </a:solidFill>
            <a:prstDash val="solid"/>
          </a:ln>
        </p:spPr>
      </p:sp>
      <p:sp>
        <p:nvSpPr>
          <p:cNvPr id="9" name="text-79"/>
          <p:cNvSpPr txBox="1"/>
          <p:nvPr/>
        </p:nvSpPr>
        <p:spPr>
          <a:xfrm>
            <a:off x="548640" y="4157091"/>
            <a:ext cx="3566160" cy="2051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one laptop: Python + SQLite; no GPU, no internet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90-day plans re-simulated and re-solved in ≈1.0 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 automated tests; same seed → same numbers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N-CMAPSS / C-MAPSS files in data/raw → retrains on real engines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2-minute demo film recorded from the running prototype</a:t>
            </a:r>
            <a:endParaRPr lang="en-US" sz="1100" dirty="0"/>
          </a:p>
        </p:txBody>
      </p:sp>
      <p:graphicFrame>
        <p:nvGraphicFramePr>
          <p:cNvPr id="5" name="risk-table-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115568"/>
          <a:ext cx="738835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1480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CHALLENGES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IAF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“SYNTHETIC SCENARIO” badge on every screen; decisions never see ground truth — it is used only to backtest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trained on another platform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decision layer is platform-agnostic: swap the degradation model and the twin, simulator and optimiser are unchanged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Overconfidence near failure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Conformal intervals calibrated per RUL band: 94% coverage in the last 20 cycles; abstains → inspect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Classified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Air-gapped: one base server, one SQLite file; no cloud, no LLM, no external API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in automated advice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Ranks and prices, never authorises; every number has a trace; every plan re-scored by the full simulator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card-81"/>
          <p:cNvSpPr/>
          <p:nvPr/>
        </p:nvSpPr>
        <p:spPr>
          <a:xfrm>
            <a:off x="4389120" y="4315968"/>
            <a:ext cx="7388352" cy="196596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graphicFrame>
        <p:nvGraphicFramePr>
          <p:cNvPr id="12" name="finetune-chart-82" descr=""/>
          <p:cNvGraphicFramePr/>
          <p:nvPr/>
        </p:nvGraphicFramePr>
        <p:xfrm>
          <a:off x="4480560" y="4361688"/>
          <a:ext cx="374904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-83"/>
          <p:cNvSpPr txBox="1"/>
          <p:nvPr/>
        </p:nvSpPr>
        <p:spPr>
          <a:xfrm>
            <a:off x="8366760" y="4425696"/>
            <a:ext cx="327355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WITH LITTLE 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APH stays 95%–100% from 12 to 216 labelled failures. With fewer failures the interval widens and it warns earlier, not later.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 buys efficiency, not safety.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84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3400" dirty="0"/>
          </a:p>
        </p:txBody>
      </p:sp>
      <p:sp>
        <p:nvSpPr>
          <p:cNvPr id="4" name="card-85"/>
          <p:cNvSpPr/>
          <p:nvPr/>
        </p:nvSpPr>
        <p:spPr>
          <a:xfrm>
            <a:off x="411480" y="1115568"/>
            <a:ext cx="2679192" cy="13258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-86"/>
          <p:cNvSpPr txBox="1"/>
          <p:nvPr/>
        </p:nvSpPr>
        <p:spPr>
          <a:xfrm>
            <a:off x="548640" y="1161288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</a:t>
            </a:r>
            <a:endParaRPr lang="en-US" sz="3000" dirty="0"/>
          </a:p>
        </p:txBody>
      </p:sp>
      <p:sp>
        <p:nvSpPr>
          <p:cNvPr id="6" name="text-87"/>
          <p:cNvSpPr txBox="1"/>
          <p:nvPr/>
        </p:nvSpPr>
        <p:spPr>
          <a:xfrm>
            <a:off x="548640" y="1737360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aircraft-days in 90 days on a 24-aircraft fleet (Ao 82.7% → 85.6%), same aircraft, parts and bays</a:t>
            </a:r>
            <a:endParaRPr lang="en-US" sz="1050" dirty="0"/>
          </a:p>
        </p:txBody>
      </p:sp>
      <p:sp>
        <p:nvSpPr>
          <p:cNvPr id="7" name="card-88"/>
          <p:cNvSpPr/>
          <p:nvPr/>
        </p:nvSpPr>
        <p:spPr>
          <a:xfrm>
            <a:off x="3307385" y="1115568"/>
            <a:ext cx="2679192" cy="13258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-89"/>
          <p:cNvSpPr txBox="1"/>
          <p:nvPr/>
        </p:nvSpPr>
        <p:spPr>
          <a:xfrm>
            <a:off x="3444545" y="1161288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→ 5</a:t>
            </a:r>
            <a:endParaRPr lang="en-US" sz="3000" dirty="0"/>
          </a:p>
        </p:txBody>
      </p:sp>
      <p:sp>
        <p:nvSpPr>
          <p:cNvPr id="9" name="text-90"/>
          <p:cNvSpPr txBox="1"/>
          <p:nvPr/>
        </p:nvSpPr>
        <p:spPr>
          <a:xfrm>
            <a:off x="3444545" y="1737360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tasked sorties lost to unavailability, current practice → plan</a:t>
            </a:r>
            <a:endParaRPr lang="en-US" sz="1050" dirty="0"/>
          </a:p>
        </p:txBody>
      </p:sp>
      <p:sp>
        <p:nvSpPr>
          <p:cNvPr id="10" name="card-91"/>
          <p:cNvSpPr/>
          <p:nvPr/>
        </p:nvSpPr>
        <p:spPr>
          <a:xfrm>
            <a:off x="6203290" y="1115568"/>
            <a:ext cx="2679192" cy="13258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text-92"/>
          <p:cNvSpPr txBox="1"/>
          <p:nvPr/>
        </p:nvSpPr>
        <p:spPr>
          <a:xfrm>
            <a:off x="6340450" y="1161288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 → 0.5</a:t>
            </a:r>
            <a:endParaRPr lang="en-US" sz="3000" dirty="0"/>
          </a:p>
        </p:txBody>
      </p:sp>
      <p:sp>
        <p:nvSpPr>
          <p:cNvPr id="12" name="text-93"/>
          <p:cNvSpPr txBox="1"/>
          <p:nvPr/>
        </p:nvSpPr>
        <p:spPr>
          <a:xfrm>
            <a:off x="6340450" y="1737360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days an inspection waits for a depot bay</a:t>
            </a:r>
            <a:endParaRPr lang="en-US" sz="1050" dirty="0"/>
          </a:p>
        </p:txBody>
      </p:sp>
      <p:sp>
        <p:nvSpPr>
          <p:cNvPr id="13" name="card-94"/>
          <p:cNvSpPr/>
          <p:nvPr/>
        </p:nvSpPr>
        <p:spPr>
          <a:xfrm>
            <a:off x="9099194" y="1115568"/>
            <a:ext cx="2679192" cy="13258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text-95"/>
          <p:cNvSpPr txBox="1"/>
          <p:nvPr/>
        </p:nvSpPr>
        <p:spPr>
          <a:xfrm>
            <a:off x="9236354" y="1161288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→ 8</a:t>
            </a:r>
            <a:endParaRPr lang="en-US" sz="3000" dirty="0"/>
          </a:p>
        </p:txBody>
      </p:sp>
      <p:sp>
        <p:nvSpPr>
          <p:cNvPr id="15" name="text-96"/>
          <p:cNvSpPr txBox="1"/>
          <p:nvPr/>
        </p:nvSpPr>
        <p:spPr>
          <a:xfrm>
            <a:off x="9236354" y="1737360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sorties lost in a 90-day backtest on true failures, capped model → FLIGHTLINE (no prognosis: 18)</a:t>
            </a:r>
            <a:endParaRPr lang="en-US" sz="1050" dirty="0"/>
          </a:p>
        </p:txBody>
      </p:sp>
      <p:sp>
        <p:nvSpPr>
          <p:cNvPr id="16" name="frame-97"/>
          <p:cNvSpPr/>
          <p:nvPr/>
        </p:nvSpPr>
        <p:spPr>
          <a:xfrm>
            <a:off x="411480" y="2606040"/>
            <a:ext cx="55778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17" name="text-98"/>
          <p:cNvSpPr txBox="1"/>
          <p:nvPr/>
        </p:nvSpPr>
        <p:spPr>
          <a:xfrm>
            <a:off x="548640" y="267919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availability 82.7% and not 93.7%?</a:t>
            </a:r>
            <a:endParaRPr lang="en-US" sz="1400" dirty="0"/>
          </a:p>
        </p:txBody>
      </p:sp>
      <p:graphicFrame>
        <p:nvGraphicFramePr>
          <p:cNvPr id="6" name="attr-table-9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53035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13716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Ao points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Aircraft-days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Waiting for spares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Waiting for a depot bay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Unscheduled removal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Cannibalisation cascade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below the ceiling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12700" marB="12700" anchor="ctr">
                    <a:lnL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frame-100"/>
          <p:cNvSpPr/>
          <p:nvPr/>
        </p:nvSpPr>
        <p:spPr>
          <a:xfrm>
            <a:off x="6199632" y="2606040"/>
            <a:ext cx="55778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0" name="text-101"/>
          <p:cNvSpPr txBox="1"/>
          <p:nvPr/>
        </p:nvSpPr>
        <p:spPr>
          <a:xfrm>
            <a:off x="6336792" y="267919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Stress-tested live — each re-solves in about a second</a:t>
            </a:r>
            <a:endParaRPr lang="en-US" sz="1400" dirty="0"/>
          </a:p>
        </p:txBody>
      </p:sp>
      <p:sp>
        <p:nvSpPr>
          <p:cNvPr id="21" name="text-102"/>
          <p:cNvSpPr txBox="1"/>
          <p:nvPr/>
        </p:nvSpPr>
        <p:spPr>
          <a:xfrm>
            <a:off x="6336792" y="3063240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TAIL-01 and TAIL-03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79.0%; new top action: cannibalise the radar from grounded TAIL-03 to TAIL-02, +28 aircraft-days</a:t>
            </a:r>
            <a:endParaRPr lang="en-US" sz="1050" dirty="0"/>
          </a:p>
        </p:txBody>
      </p:sp>
      <p:sp>
        <p:nvSpPr>
          <p:cNvPr id="22" name="text-103"/>
          <p:cNvSpPr txBox="1"/>
          <p:nvPr/>
        </p:nvSpPr>
        <p:spPr>
          <a:xfrm>
            <a:off x="6336792" y="3611880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Spares convoy 10 days late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Spares share of the gap 8.0 → 9.9 pts; order-now parts 3 → 10</a:t>
            </a:r>
            <a:endParaRPr lang="en-US" sz="1050" dirty="0"/>
          </a:p>
        </p:txBody>
      </p:sp>
      <p:sp>
        <p:nvSpPr>
          <p:cNvPr id="23" name="text-104"/>
          <p:cNvSpPr txBox="1"/>
          <p:nvPr/>
        </p:nvSpPr>
        <p:spPr>
          <a:xfrm>
            <a:off x="6336792" y="4160520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Surge: 40% more sorties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Sorties lost 64 under current practice vs 39 under the plan (+83 aircraft-days)</a:t>
            </a:r>
            <a:endParaRPr lang="en-US" sz="1050" dirty="0"/>
          </a:p>
        </p:txBody>
      </p:sp>
      <p:sp>
        <p:nvSpPr>
          <p:cNvPr id="24" name="frame-105"/>
          <p:cNvSpPr/>
          <p:nvPr/>
        </p:nvSpPr>
        <p:spPr>
          <a:xfrm>
            <a:off x="411480" y="4873752"/>
            <a:ext cx="2679192" cy="1408176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5" name="text-106"/>
          <p:cNvSpPr txBox="1"/>
          <p:nvPr/>
        </p:nvSpPr>
        <p:spPr>
          <a:xfrm>
            <a:off x="530352" y="494690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MAINTENANCE OFFICER</a:t>
            </a:r>
            <a:endParaRPr lang="en-US" sz="1100" dirty="0"/>
          </a:p>
        </p:txBody>
      </p:sp>
      <p:sp>
        <p:nvSpPr>
          <p:cNvPr id="26" name="text-107"/>
          <p:cNvSpPr txBox="1"/>
          <p:nvPr/>
        </p:nvSpPr>
        <p:spPr>
          <a:xfrm>
            <a:off x="530352" y="5276088"/>
            <a:ext cx="24963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availability is what it is, by cause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depot induction to move, and when</a:t>
            </a:r>
            <a:endParaRPr lang="en-US" sz="1150" dirty="0"/>
          </a:p>
        </p:txBody>
      </p:sp>
      <p:sp>
        <p:nvSpPr>
          <p:cNvPr id="27" name="frame-108"/>
          <p:cNvSpPr/>
          <p:nvPr/>
        </p:nvSpPr>
        <p:spPr>
          <a:xfrm>
            <a:off x="3307385" y="4873752"/>
            <a:ext cx="2679192" cy="1408176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8" name="text-109"/>
          <p:cNvSpPr txBox="1"/>
          <p:nvPr/>
        </p:nvSpPr>
        <p:spPr>
          <a:xfrm>
            <a:off x="3426257" y="494690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OFFICER</a:t>
            </a:r>
            <a:endParaRPr lang="en-US" sz="1100" dirty="0"/>
          </a:p>
        </p:txBody>
      </p:sp>
      <p:sp>
        <p:nvSpPr>
          <p:cNvPr id="29" name="text-110"/>
          <p:cNvSpPr txBox="1"/>
          <p:nvPr/>
        </p:nvSpPr>
        <p:spPr>
          <a:xfrm>
            <a:off x="3426257" y="5276088"/>
            <a:ext cx="24963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spare, stocked where, unlocks the most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order to expedite</a:t>
            </a:r>
            <a:endParaRPr lang="en-US" sz="1150" dirty="0"/>
          </a:p>
        </p:txBody>
      </p:sp>
      <p:sp>
        <p:nvSpPr>
          <p:cNvPr id="30" name="frame-111"/>
          <p:cNvSpPr/>
          <p:nvPr/>
        </p:nvSpPr>
        <p:spPr>
          <a:xfrm>
            <a:off x="6203290" y="4873752"/>
            <a:ext cx="2679192" cy="1408176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1" name="text-112"/>
          <p:cNvSpPr txBox="1"/>
          <p:nvPr/>
        </p:nvSpPr>
        <p:spPr>
          <a:xfrm>
            <a:off x="6322162" y="4946904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OFFICER</a:t>
            </a:r>
            <a:endParaRPr lang="en-US" sz="1100" dirty="0"/>
          </a:p>
        </p:txBody>
      </p:sp>
      <p:sp>
        <p:nvSpPr>
          <p:cNvPr id="32" name="text-113"/>
          <p:cNvSpPr txBox="1"/>
          <p:nvPr/>
        </p:nvSpPr>
        <p:spPr>
          <a:xfrm>
            <a:off x="6322162" y="5276088"/>
            <a:ext cx="24963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 priced before it is signed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or order, with the model's own doubt</a:t>
            </a:r>
            <a:endParaRPr lang="en-US" sz="1150" dirty="0"/>
          </a:p>
        </p:txBody>
      </p:sp>
      <p:sp>
        <p:nvSpPr>
          <p:cNvPr id="33" name="card-114"/>
          <p:cNvSpPr/>
          <p:nvPr/>
        </p:nvSpPr>
        <p:spPr>
          <a:xfrm>
            <a:off x="9099194" y="4873752"/>
            <a:ext cx="2679192" cy="1408176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4" name="text-115"/>
          <p:cNvSpPr txBox="1"/>
          <p:nvPr/>
        </p:nvSpPr>
        <p:spPr>
          <a:xfrm>
            <a:off x="9218066" y="4946904"/>
            <a:ext cx="24414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DEPLOYMENT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base server, one SQLite file, open-source stack. Nothing leaves the base network.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-116"/>
          <p:cNvSpPr/>
          <p:nvPr/>
        </p:nvSpPr>
        <p:spPr>
          <a:xfrm>
            <a:off x="274320" y="201168"/>
            <a:ext cx="1600200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064A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Byte</a:t>
            </a:r>
            <a:endParaRPr lang="en-US" sz="1700" dirty="0"/>
          </a:p>
        </p:txBody>
      </p:sp>
      <p:sp>
        <p:nvSpPr>
          <p:cNvPr id="3" name="Text 3"/>
          <p:cNvSpPr/>
          <p:nvPr>
            <p:ph idx="104" type="title" hasCustomPrompt="1"/>
          </p:nvPr>
        </p:nvSpPr>
        <p:spPr>
          <a:xfrm>
            <a:off x="2103120" y="23774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3400" dirty="0"/>
          </a:p>
        </p:txBody>
      </p:sp>
      <p:sp>
        <p:nvSpPr>
          <p:cNvPr id="4" name="frame-117"/>
          <p:cNvSpPr/>
          <p:nvPr/>
        </p:nvSpPr>
        <p:spPr>
          <a:xfrm>
            <a:off x="411480" y="1115568"/>
            <a:ext cx="2697480" cy="33832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5" name="ref-num-118"/>
          <p:cNvSpPr/>
          <p:nvPr/>
        </p:nvSpPr>
        <p:spPr>
          <a:xfrm>
            <a:off x="411480" y="1115568"/>
            <a:ext cx="384048" cy="384048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-119"/>
          <p:cNvSpPr txBox="1"/>
          <p:nvPr/>
        </p:nvSpPr>
        <p:spPr>
          <a:xfrm>
            <a:off x="886968" y="117043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Degradation data</a:t>
            </a:r>
            <a:endParaRPr lang="en-US" sz="1300" dirty="0"/>
          </a:p>
        </p:txBody>
      </p:sp>
      <p:sp>
        <p:nvSpPr>
          <p:cNvPr id="7" name="text-120"/>
          <p:cNvSpPr txBox="1"/>
          <p:nvPr/>
        </p:nvSpPr>
        <p:spPr>
          <a:xfrm>
            <a:off x="539496" y="1618488"/>
            <a:ext cx="247802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Arias Chao M. et al. Aircraft engine run-to-failure dataset under real flight conditions (N-CMAPSS). Data 6(1):5, 2021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Saxena A. et al. Damage propagation modeling for aircraft engine run-to-failure simulation (C-MAPSS). PHM 2008</a:t>
            </a:r>
            <a:endParaRPr lang="en-US" sz="1150" dirty="0"/>
          </a:p>
        </p:txBody>
      </p:sp>
      <p:sp>
        <p:nvSpPr>
          <p:cNvPr id="8" name="card-121"/>
          <p:cNvSpPr/>
          <p:nvPr/>
        </p:nvSpPr>
        <p:spPr>
          <a:xfrm>
            <a:off x="521208" y="3657600"/>
            <a:ext cx="2478024" cy="73152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text-122"/>
          <p:cNvSpPr txBox="1"/>
          <p:nvPr/>
        </p:nvSpPr>
        <p:spPr>
          <a:xfrm>
            <a:off x="612648" y="3675888"/>
            <a:ext cx="22951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for: </a:t>
            </a:r>
            <a:r>
              <a:rPr lang="en-US" sz="105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of our synthetic degradation; the loader retrains on the real files</a:t>
            </a:r>
            <a:endParaRPr lang="en-US" sz="1050" dirty="0"/>
          </a:p>
        </p:txBody>
      </p:sp>
      <p:sp>
        <p:nvSpPr>
          <p:cNvPr id="10" name="frame-123"/>
          <p:cNvSpPr/>
          <p:nvPr/>
        </p:nvSpPr>
        <p:spPr>
          <a:xfrm>
            <a:off x="3300984" y="1115568"/>
            <a:ext cx="2697480" cy="33832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11" name="ref-num-124"/>
          <p:cNvSpPr/>
          <p:nvPr/>
        </p:nvSpPr>
        <p:spPr>
          <a:xfrm>
            <a:off x="3300984" y="1115568"/>
            <a:ext cx="384048" cy="384048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-125"/>
          <p:cNvSpPr txBox="1"/>
          <p:nvPr/>
        </p:nvSpPr>
        <p:spPr>
          <a:xfrm>
            <a:off x="3776472" y="117043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Conformal prediction</a:t>
            </a:r>
            <a:endParaRPr lang="en-US" sz="1300" dirty="0"/>
          </a:p>
        </p:txBody>
      </p:sp>
      <p:sp>
        <p:nvSpPr>
          <p:cNvPr id="13" name="text-126"/>
          <p:cNvSpPr txBox="1"/>
          <p:nvPr/>
        </p:nvSpPr>
        <p:spPr>
          <a:xfrm>
            <a:off x="3429000" y="1618488"/>
            <a:ext cx="247802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Romano Y., Patterson E., Candès E. Conformalized quantile regression. NeurIPS 2019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Vovk V., Gammerman A., Shafer G. Algorithmic Learning in a Random World. Springer, 2005</a:t>
            </a:r>
            <a:endParaRPr lang="en-US" sz="1150" dirty="0"/>
          </a:p>
        </p:txBody>
      </p:sp>
      <p:sp>
        <p:nvSpPr>
          <p:cNvPr id="14" name="card-127"/>
          <p:cNvSpPr/>
          <p:nvPr/>
        </p:nvSpPr>
        <p:spPr>
          <a:xfrm>
            <a:off x="3410712" y="3657600"/>
            <a:ext cx="2478024" cy="73152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5" name="text-128"/>
          <p:cNvSpPr txBox="1"/>
          <p:nvPr/>
        </p:nvSpPr>
        <p:spPr>
          <a:xfrm>
            <a:off x="3502152" y="3675888"/>
            <a:ext cx="22951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for: </a:t>
            </a:r>
            <a:r>
              <a:rPr lang="en-US" sz="105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remaining-life interval, calibrated per band (Mondrian); the abstention gate</a:t>
            </a:r>
            <a:endParaRPr lang="en-US" sz="1050" dirty="0"/>
          </a:p>
        </p:txBody>
      </p:sp>
      <p:sp>
        <p:nvSpPr>
          <p:cNvPr id="16" name="frame-129"/>
          <p:cNvSpPr/>
          <p:nvPr/>
        </p:nvSpPr>
        <p:spPr>
          <a:xfrm>
            <a:off x="6190488" y="1115568"/>
            <a:ext cx="2697480" cy="33832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17" name="ref-num-130"/>
          <p:cNvSpPr/>
          <p:nvPr/>
        </p:nvSpPr>
        <p:spPr>
          <a:xfrm>
            <a:off x="6190488" y="1115568"/>
            <a:ext cx="384048" cy="384048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-131"/>
          <p:cNvSpPr txBox="1"/>
          <p:nvPr/>
        </p:nvSpPr>
        <p:spPr>
          <a:xfrm>
            <a:off x="6665976" y="117043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Cannibalisation evidence</a:t>
            </a:r>
            <a:endParaRPr lang="en-US" sz="1300" dirty="0"/>
          </a:p>
        </p:txBody>
      </p:sp>
      <p:sp>
        <p:nvSpPr>
          <p:cNvPr id="19" name="text-132"/>
          <p:cNvSpPr txBox="1"/>
          <p:nvPr/>
        </p:nvSpPr>
        <p:spPr>
          <a:xfrm>
            <a:off x="6318504" y="1618488"/>
            <a:ext cx="247802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GAO. GAO-02-86, Military Aircraft: Services Need Strategies to Reduce Cannibalizations. Nov 2001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≈850,000 cannibalisations and ≈5.3 million extra hours, FY1996–2000; at least twice the labour of a normal repair</a:t>
            </a:r>
            <a:endParaRPr lang="en-US" sz="1150" dirty="0"/>
          </a:p>
        </p:txBody>
      </p:sp>
      <p:sp>
        <p:nvSpPr>
          <p:cNvPr id="20" name="card-133"/>
          <p:cNvSpPr/>
          <p:nvPr/>
        </p:nvSpPr>
        <p:spPr>
          <a:xfrm>
            <a:off x="6300216" y="3657600"/>
            <a:ext cx="2478024" cy="73152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21" name="text-134"/>
          <p:cNvSpPr txBox="1"/>
          <p:nvPr/>
        </p:nvSpPr>
        <p:spPr>
          <a:xfrm>
            <a:off x="6391656" y="3675888"/>
            <a:ext cx="22951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for: </a:t>
            </a:r>
            <a:r>
              <a:rPr lang="en-US" sz="105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labour priced at 2×; every swap scored before it is signed</a:t>
            </a:r>
            <a:endParaRPr lang="en-US" sz="1050" dirty="0"/>
          </a:p>
        </p:txBody>
      </p:sp>
      <p:sp>
        <p:nvSpPr>
          <p:cNvPr id="22" name="frame-135"/>
          <p:cNvSpPr/>
          <p:nvPr/>
        </p:nvSpPr>
        <p:spPr>
          <a:xfrm>
            <a:off x="9079992" y="1115568"/>
            <a:ext cx="2697480" cy="33832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3" name="ref-num-136"/>
          <p:cNvSpPr/>
          <p:nvPr/>
        </p:nvSpPr>
        <p:spPr>
          <a:xfrm>
            <a:off x="9079992" y="1115568"/>
            <a:ext cx="384048" cy="384048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-137"/>
          <p:cNvSpPr txBox="1"/>
          <p:nvPr/>
        </p:nvSpPr>
        <p:spPr>
          <a:xfrm>
            <a:off x="9555480" y="117043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Spares and optimisation</a:t>
            </a:r>
            <a:endParaRPr lang="en-US" sz="1300" dirty="0"/>
          </a:p>
        </p:txBody>
      </p:sp>
      <p:sp>
        <p:nvSpPr>
          <p:cNvPr id="25" name="text-138"/>
          <p:cNvSpPr txBox="1"/>
          <p:nvPr/>
        </p:nvSpPr>
        <p:spPr>
          <a:xfrm>
            <a:off x="9208008" y="1618488"/>
            <a:ext cx="247802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Sherbrooke C. METRIC: a multi-echelon technique for recoverable item control. Operations Research 16(1), 1968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OR-Tools CP-SAT · scikit-learn HistGradientBoosting · NetworkX</a:t>
            </a:r>
            <a:endParaRPr lang="en-US" sz="1150" dirty="0"/>
          </a:p>
        </p:txBody>
      </p:sp>
      <p:sp>
        <p:nvSpPr>
          <p:cNvPr id="26" name="card-139"/>
          <p:cNvSpPr/>
          <p:nvPr/>
        </p:nvSpPr>
        <p:spPr>
          <a:xfrm>
            <a:off x="9189720" y="3657600"/>
            <a:ext cx="2478024" cy="73152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27" name="text-140"/>
          <p:cNvSpPr txBox="1"/>
          <p:nvPr/>
        </p:nvSpPr>
        <p:spPr>
          <a:xfrm>
            <a:off x="9281160" y="3675888"/>
            <a:ext cx="22951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for: </a:t>
            </a:r>
            <a:r>
              <a:rPr lang="en-US" sz="105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Base-stock (S−1, S) spares; induction scheduling and expedites</a:t>
            </a:r>
            <a:endParaRPr lang="en-US" sz="1050" dirty="0"/>
          </a:p>
        </p:txBody>
      </p:sp>
      <p:sp>
        <p:nvSpPr>
          <p:cNvPr id="28" name="frame-141"/>
          <p:cNvSpPr/>
          <p:nvPr/>
        </p:nvSpPr>
        <p:spPr>
          <a:xfrm>
            <a:off x="411480" y="4681728"/>
            <a:ext cx="11365992" cy="16002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29" name="plan-tag-142"/>
          <p:cNvSpPr/>
          <p:nvPr/>
        </p:nvSpPr>
        <p:spPr>
          <a:xfrm>
            <a:off x="4270248" y="4526280"/>
            <a:ext cx="3657600" cy="310896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PILOT AND VALIDATION PLAN</a:t>
            </a:r>
            <a:endParaRPr lang="en-US" sz="1200" dirty="0"/>
          </a:p>
        </p:txBody>
      </p:sp>
      <p:sp>
        <p:nvSpPr>
          <p:cNvPr id="30" name="text-143"/>
          <p:cNvSpPr txBox="1"/>
          <p:nvPr/>
        </p:nvSpPr>
        <p:spPr>
          <a:xfrm>
            <a:off x="548640" y="4956048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LRU family: removals, lead times, stock by base, bay counts, cannibalisation logs</a:t>
            </a:r>
            <a:endParaRPr lang="en-US" sz="1150" dirty="0"/>
          </a:p>
        </p:txBody>
      </p:sp>
      <p:sp>
        <p:nvSpPr>
          <p:cNvPr id="31" name="arrow-144"/>
          <p:cNvSpPr/>
          <p:nvPr/>
        </p:nvSpPr>
        <p:spPr>
          <a:xfrm>
            <a:off x="2598039" y="5436108"/>
            <a:ext cx="182880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2" name="text-145"/>
          <p:cNvSpPr txBox="1"/>
          <p:nvPr/>
        </p:nvSpPr>
        <p:spPr>
          <a:xfrm>
            <a:off x="2818638" y="4956048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Degradation model on real removals; recalibrate the conformal intervals</a:t>
            </a:r>
            <a:endParaRPr lang="en-US" sz="1150" dirty="0"/>
          </a:p>
        </p:txBody>
      </p:sp>
      <p:sp>
        <p:nvSpPr>
          <p:cNvPr id="33" name="arrow-146"/>
          <p:cNvSpPr/>
          <p:nvPr/>
        </p:nvSpPr>
        <p:spPr>
          <a:xfrm>
            <a:off x="4868037" y="5436108"/>
            <a:ext cx="182880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4" name="text-147"/>
          <p:cNvSpPr txBox="1"/>
          <p:nvPr/>
        </p:nvSpPr>
        <p:spPr>
          <a:xfrm>
            <a:off x="5088636" y="4956048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mode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days at one base; officers keep deciding, FLIGHTLINE only advises</a:t>
            </a:r>
            <a:endParaRPr lang="en-US" sz="1150" dirty="0"/>
          </a:p>
        </p:txBody>
      </p:sp>
      <p:sp>
        <p:nvSpPr>
          <p:cNvPr id="35" name="arrow-148"/>
          <p:cNvSpPr/>
          <p:nvPr/>
        </p:nvSpPr>
        <p:spPr>
          <a:xfrm>
            <a:off x="7138035" y="5436108"/>
            <a:ext cx="182880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6" name="text-149"/>
          <p:cNvSpPr txBox="1"/>
          <p:nvPr/>
        </p:nvSpPr>
        <p:spPr>
          <a:xfrm>
            <a:off x="7358634" y="4956048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APH and aircraft-days against what actually happened</a:t>
            </a:r>
            <a:endParaRPr lang="en-US" sz="1150" dirty="0"/>
          </a:p>
        </p:txBody>
      </p:sp>
      <p:sp>
        <p:nvSpPr>
          <p:cNvPr id="37" name="arrow-150"/>
          <p:cNvSpPr/>
          <p:nvPr/>
        </p:nvSpPr>
        <p:spPr>
          <a:xfrm>
            <a:off x="9408033" y="5436108"/>
            <a:ext cx="182880" cy="274320"/>
          </a:xfrm>
          <a:prstGeom prst="rightArrow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-151"/>
          <p:cNvSpPr txBox="1"/>
          <p:nvPr/>
        </p:nvSpPr>
        <p:spPr>
          <a:xfrm>
            <a:off x="9628632" y="4956048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LRU families, then more bases and types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73952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IGHTLINE SIH">
  <a:themeElements>
    <a:clrScheme name="FLIGHTLINE SIH">
      <a:dk1>
        <a:srgbClr val="000000"/>
      </a:dk1>
      <a:lt1>
        <a:srgbClr val="FFFFFF"/>
      </a:lt1>
      <a:dk2>
        <a:srgbClr val="1F3A5F"/>
      </a:dk2>
      <a:lt2>
        <a:srgbClr val="EEF3F8"/>
      </a:lt2>
      <a:accent1>
        <a:srgbClr val="0070C0"/>
      </a:accent1>
      <a:accent2>
        <a:srgbClr val="B07D1A"/>
      </a:accent2>
      <a:accent3>
        <a:srgbClr val="C0392B"/>
      </a:accent3>
      <a:accent4>
        <a:srgbClr val="4A72C4"/>
      </a:accent4>
      <a:accent5>
        <a:srgbClr val="6B7780"/>
      </a:accent5>
      <a:accent6>
        <a:srgbClr val="2E7D32"/>
      </a:accent6>
      <a:hlink>
        <a:srgbClr val="0070C0"/>
      </a:hlink>
      <a:folHlink>
        <a:srgbClr val="5B2C83"/>
      </a:folHlink>
    </a:clrScheme>
    <a:fontScheme name="FLIGHTLINE SIH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FLIGHTLINE — Fleet Availability Twin (SIH26249)</dc:title>
  <dc:subject>Smart India Hackathon 2026 · SIH26249</dc:subject>
  <dc:creator>Code Byte</dc:creator>
  <cp:lastModifiedBy>Code Byte</cp:lastModifiedBy>
  <cp:revision>1</cp:revision>
  <dcterms:created xsi:type="dcterms:W3CDTF">2026-10-20T17:15:04Z</dcterms:created>
  <dcterms:modified xsi:type="dcterms:W3CDTF">2026-10-20T17:15:04Z</dcterms:modified>
</cp:coreProperties>
</file>